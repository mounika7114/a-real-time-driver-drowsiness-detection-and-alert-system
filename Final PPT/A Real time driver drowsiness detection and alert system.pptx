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96" r:id="rId2"/>
    <p:sldId id="305" r:id="rId3"/>
    <p:sldId id="306" r:id="rId4"/>
    <p:sldId id="307"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37" r:id="rId19"/>
    <p:sldId id="338" r:id="rId20"/>
    <p:sldId id="339" r:id="rId21"/>
    <p:sldId id="340" r:id="rId22"/>
    <p:sldId id="341" r:id="rId23"/>
    <p:sldId id="342" r:id="rId24"/>
    <p:sldId id="343" r:id="rId25"/>
    <p:sldId id="344" r:id="rId26"/>
    <p:sldId id="323" r:id="rId27"/>
    <p:sldId id="327" r:id="rId28"/>
    <p:sldId id="321" r:id="rId29"/>
    <p:sldId id="322" r:id="rId30"/>
    <p:sldId id="332" r:id="rId31"/>
    <p:sldId id="330" r:id="rId32"/>
    <p:sldId id="333" r:id="rId33"/>
    <p:sldId id="335" r:id="rId34"/>
    <p:sldId id="29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46" autoAdjust="0"/>
    <p:restoredTop sz="94660"/>
  </p:normalViewPr>
  <p:slideViewPr>
    <p:cSldViewPr>
      <p:cViewPr varScale="1">
        <p:scale>
          <a:sx n="78" d="100"/>
          <a:sy n="78" d="100"/>
        </p:scale>
        <p:origin x="181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t>4/6/2026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t>‹#›</a:t>
            </a:fld>
            <a:endParaRPr lang="en-US"/>
          </a:p>
        </p:txBody>
      </p:sp>
    </p:spTree>
    <p:extLst>
      <p:ext uri="{BB962C8B-B14F-4D97-AF65-F5344CB8AC3E}">
        <p14:creationId xmlns:p14="http://schemas.microsoft.com/office/powerpoint/2010/main" val="424741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20298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4/6/2026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4/6/2026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4/6/2026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4/6/2026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4/6/2026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4/6/2026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0"/>
            <a:ext cx="8153400" cy="1219200"/>
          </a:xfrm>
        </p:spPr>
        <p:txBody>
          <a:bodyPr>
            <a:noAutofit/>
          </a:bodyPr>
          <a:lstStyle/>
          <a:p>
            <a:pPr algn="ctr"/>
            <a:r>
              <a:rPr lang="en-US" sz="4000" b="1" dirty="0"/>
              <a:t>A Real Time Driver Drowsiness Detection and Alert System</a:t>
            </a:r>
          </a:p>
        </p:txBody>
      </p:sp>
      <p:sp>
        <p:nvSpPr>
          <p:cNvPr id="3" name="Content Placeholder 2"/>
          <p:cNvSpPr>
            <a:spLocks noGrp="1"/>
          </p:cNvSpPr>
          <p:nvPr>
            <p:ph sz="quarter" idx="1"/>
          </p:nvPr>
        </p:nvSpPr>
        <p:spPr>
          <a:xfrm>
            <a:off x="152400" y="1524000"/>
            <a:ext cx="8763000" cy="5334000"/>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5600" b="1" dirty="0"/>
              <a:t>By</a:t>
            </a:r>
          </a:p>
          <a:p>
            <a:pPr algn="ctr">
              <a:buNone/>
            </a:pPr>
            <a:r>
              <a:rPr lang="en-US" sz="5600" b="1" dirty="0"/>
              <a:t>      </a:t>
            </a:r>
            <a:r>
              <a:rPr lang="en-US" sz="6400" dirty="0"/>
              <a:t>Name 1: V.Mounika Jaya (22BFA33138)</a:t>
            </a:r>
          </a:p>
          <a:p>
            <a:pPr algn="ctr">
              <a:buNone/>
            </a:pPr>
            <a:r>
              <a:rPr lang="en-US" sz="6400" dirty="0"/>
              <a:t>Name 2: K.Cherishma (22BFA33097)</a:t>
            </a:r>
          </a:p>
          <a:p>
            <a:pPr algn="ctr">
              <a:buNone/>
            </a:pPr>
            <a:r>
              <a:rPr lang="en-US" sz="6400" dirty="0"/>
              <a:t>       Name 3: Jadala Vaishnavi (22BFA33094)</a:t>
            </a:r>
          </a:p>
          <a:p>
            <a:pPr algn="ctr">
              <a:buNone/>
            </a:pPr>
            <a:r>
              <a:rPr lang="en-US" sz="6400" dirty="0"/>
              <a:t>                      Name 4: Muddukuppam Dilli Prasad (22BFA33123)</a:t>
            </a:r>
          </a:p>
          <a:p>
            <a:pPr algn="ctr">
              <a:buNone/>
            </a:pPr>
            <a:endParaRPr lang="en-US" sz="5600" dirty="0"/>
          </a:p>
          <a:p>
            <a:pPr algn="ctr">
              <a:buNone/>
            </a:pPr>
            <a:r>
              <a:rPr lang="en-US" sz="6400" dirty="0"/>
              <a:t>Under the guidance of</a:t>
            </a:r>
          </a:p>
          <a:p>
            <a:pPr algn="ctr">
              <a:buNone/>
            </a:pPr>
            <a:r>
              <a:rPr lang="en-US" sz="7200" b="1" dirty="0"/>
              <a:t>Dr J.Sarada</a:t>
            </a:r>
          </a:p>
          <a:p>
            <a:pPr algn="ctr">
              <a:buNone/>
            </a:pPr>
            <a:r>
              <a:rPr lang="en-US" sz="7200" dirty="0"/>
              <a:t> Associate Professor</a:t>
            </a:r>
          </a:p>
          <a:p>
            <a:pPr algn="ctr">
              <a:buNone/>
            </a:pPr>
            <a:r>
              <a:rPr lang="en-US" sz="6400" dirty="0"/>
              <a:t>    Department of CSE (AI &amp; ML)</a:t>
            </a:r>
          </a:p>
          <a:p>
            <a:pPr algn="ctr">
              <a:buNone/>
            </a:pPr>
            <a:endParaRPr lang="en-US" sz="6400" dirty="0"/>
          </a:p>
          <a:p>
            <a:pPr algn="ctr">
              <a:buNone/>
            </a:pPr>
            <a:endParaRPr lang="en-US" dirty="0"/>
          </a:p>
          <a:p>
            <a:pPr algn="ctr">
              <a:buNone/>
            </a:pPr>
            <a:endParaRPr lang="en-US" b="1" dirty="0"/>
          </a:p>
          <a:p>
            <a:pPr algn="ctr">
              <a:buNone/>
            </a:pPr>
            <a:endParaRPr lang="en-US" b="1" dirty="0"/>
          </a:p>
          <a:p>
            <a:pPr algn="ctr">
              <a:buNone/>
            </a:pPr>
            <a:endParaRPr lang="en-US" dirty="0"/>
          </a:p>
          <a:p>
            <a:pPr algn="ctr">
              <a:buNone/>
            </a:pPr>
            <a:endParaRPr lang="en-US" b="1" dirty="0"/>
          </a:p>
          <a:p>
            <a:pPr algn="ctr">
              <a:buNone/>
            </a:pPr>
            <a:r>
              <a:rPr lang="en-US" sz="4800" b="1" dirty="0">
                <a:latin typeface="Times New Roman" panose="02020603050405020304" pitchFamily="18" charset="0"/>
                <a:cs typeface="Times New Roman" panose="02020603050405020304" pitchFamily="18" charset="0"/>
              </a:rPr>
              <a:t>   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       SRI VENKATESWARA COLLEGE OF ENGINEERING</a:t>
            </a:r>
          </a:p>
          <a:p>
            <a:pPr algn="ctr">
              <a:buNone/>
            </a:pPr>
            <a:r>
              <a:rPr lang="en-US" sz="5600" b="1" dirty="0"/>
              <a:t>     (Autonomous)</a:t>
            </a:r>
            <a:endParaRPr lang="en-US" sz="5600" dirty="0"/>
          </a:p>
          <a:p>
            <a:pPr algn="ctr">
              <a:buNone/>
            </a:pPr>
            <a:r>
              <a:rPr lang="en-US" sz="5600" b="1" dirty="0"/>
              <a:t>    Karakambadi Road, Tirupati-517507</a:t>
            </a:r>
            <a:endParaRPr lang="en-US" sz="5600" dirty="0"/>
          </a:p>
          <a:p>
            <a:pPr algn="ctr">
              <a:buNone/>
            </a:pPr>
            <a:r>
              <a:rPr lang="en-US" sz="5600" b="1" dirty="0"/>
              <a:t>   2022-2026</a:t>
            </a:r>
            <a:endParaRPr lang="en-US" sz="5600"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2598" y="4419600"/>
            <a:ext cx="1333500" cy="10668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sz="quarter" idx="1"/>
          </p:nvPr>
        </p:nvSpPr>
        <p:spPr>
          <a:xfrm>
            <a:off x="612648" y="1600200"/>
            <a:ext cx="8153400" cy="5257800"/>
          </a:xfrm>
        </p:spPr>
        <p:txBody>
          <a:bodyPr>
            <a:normAutofit fontScale="25000" lnSpcReduction="20000"/>
          </a:bodyPr>
          <a:lstStyle/>
          <a:p>
            <a:r>
              <a:rPr lang="en-US" sz="8400" dirty="0"/>
              <a:t>Abstract</a:t>
            </a:r>
          </a:p>
          <a:p>
            <a:r>
              <a:rPr lang="en-US" sz="8400" dirty="0"/>
              <a:t>Introduction</a:t>
            </a:r>
          </a:p>
          <a:p>
            <a:r>
              <a:rPr lang="en-US" sz="8400" dirty="0"/>
              <a:t>Problem Statement </a:t>
            </a:r>
          </a:p>
          <a:p>
            <a:r>
              <a:rPr lang="en-US" sz="8400" dirty="0"/>
              <a:t>Existing system</a:t>
            </a:r>
          </a:p>
          <a:p>
            <a:r>
              <a:rPr lang="en-US" sz="8400" dirty="0"/>
              <a:t>Disadvantages</a:t>
            </a:r>
          </a:p>
          <a:p>
            <a:r>
              <a:rPr lang="en-US" sz="8400" dirty="0"/>
              <a:t>Proposed system</a:t>
            </a:r>
          </a:p>
          <a:p>
            <a:r>
              <a:rPr lang="en-US" sz="8400" dirty="0"/>
              <a:t>Advantages</a:t>
            </a:r>
          </a:p>
          <a:p>
            <a:r>
              <a:rPr lang="en-US" sz="8400" dirty="0"/>
              <a:t>Software Requirements</a:t>
            </a:r>
          </a:p>
          <a:p>
            <a:r>
              <a:rPr lang="en-US" sz="8400" dirty="0"/>
              <a:t>Hardware Requirements</a:t>
            </a:r>
          </a:p>
          <a:p>
            <a:r>
              <a:rPr lang="en-US" sz="8400" dirty="0"/>
              <a:t>System Architecture</a:t>
            </a:r>
          </a:p>
          <a:p>
            <a:r>
              <a:rPr lang="en-US" sz="8400" dirty="0"/>
              <a:t>Modules</a:t>
            </a:r>
          </a:p>
          <a:p>
            <a:r>
              <a:rPr lang="en-US" sz="8400" dirty="0"/>
              <a:t>UML Diagrams</a:t>
            </a:r>
          </a:p>
          <a:p>
            <a:r>
              <a:rPr lang="en-US" sz="8400" dirty="0"/>
              <a:t>Output Screens</a:t>
            </a:r>
          </a:p>
          <a:p>
            <a:r>
              <a:rPr lang="en-US" sz="8400" dirty="0"/>
              <a:t>Future Enhancements</a:t>
            </a:r>
          </a:p>
          <a:p>
            <a:r>
              <a:rPr lang="en-US" sz="8400" dirty="0"/>
              <a:t>Conclusion</a:t>
            </a:r>
          </a:p>
          <a:p>
            <a:pPr marL="0" indent="0">
              <a:buNone/>
            </a:pPr>
            <a:endParaRPr lang="en-US" sz="8400" dirty="0"/>
          </a:p>
          <a:p>
            <a:endParaRPr lang="en-US" sz="8000" dirty="0"/>
          </a:p>
          <a:p>
            <a:endParaRPr lang="en-US" dirty="0"/>
          </a:p>
        </p:txBody>
      </p:sp>
    </p:spTree>
    <p:extLst>
      <p:ext uri="{BB962C8B-B14F-4D97-AF65-F5344CB8AC3E}">
        <p14:creationId xmlns:p14="http://schemas.microsoft.com/office/powerpoint/2010/main" val="3112408762"/>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ABSTRACT</a:t>
            </a:r>
            <a:endParaRPr lang="en-US" dirty="0">
              <a:latin typeface="Tw Cen MT (Headings)"/>
            </a:endParaRPr>
          </a:p>
        </p:txBody>
      </p:sp>
      <p:sp>
        <p:nvSpPr>
          <p:cNvPr id="3" name="Content Placeholder 2"/>
          <p:cNvSpPr>
            <a:spLocks noGrp="1"/>
          </p:cNvSpPr>
          <p:nvPr>
            <p:ph sz="quarter" idx="1"/>
          </p:nvPr>
        </p:nvSpPr>
        <p:spPr/>
        <p:txBody>
          <a:bodyPr>
            <a:normAutofit fontScale="92500" lnSpcReduction="10000"/>
          </a:bodyPr>
          <a:lstStyle/>
          <a:p>
            <a:pPr algn="just"/>
            <a:r>
              <a:rPr lang="en-US" sz="2400" dirty="0"/>
              <a:t>To enhance road safety, this project proposes a real-time drowsiness detection system using Deep Learning with Convolutional Neural Networks (CNNs). The system analyzes a driver's facial expressions and eye movements to determine signs of fatigue and alertness. The model is trained on a dataset of facial images categorized into drowsy and non-drowsy states. Using CNN, the system extracts key facial features such as eye closure, yawning, and head position to detect drowsiness. A camera continuously captures frames of the driver’s face, and the trained CNN model classifies them in real-time. If drowsiness is detected, an alert mechanism (such as a voice alarm) is triggered to wake the driver. The system is implemented using OpenCV, TensorFlow/Keras, and Python, The proposed solution is highly effective in reducing accidents caused by driver fatigue, providing a low-cost and scalable approach to road safety.</a:t>
            </a:r>
            <a:endParaRPr lang="en-IN" sz="2400" dirty="0"/>
          </a:p>
        </p:txBody>
      </p:sp>
    </p:spTree>
    <p:extLst>
      <p:ext uri="{BB962C8B-B14F-4D97-AF65-F5344CB8AC3E}">
        <p14:creationId xmlns:p14="http://schemas.microsoft.com/office/powerpoint/2010/main" val="1582823894"/>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INTRODUCTION</a:t>
            </a:r>
            <a:endParaRPr lang="en-US" dirty="0">
              <a:latin typeface="Tw Cen MT (Headings)"/>
            </a:endParaRPr>
          </a:p>
        </p:txBody>
      </p:sp>
      <p:sp>
        <p:nvSpPr>
          <p:cNvPr id="3" name="Content Placeholder 2"/>
          <p:cNvSpPr>
            <a:spLocks noGrp="1"/>
          </p:cNvSpPr>
          <p:nvPr>
            <p:ph sz="quarter" idx="1"/>
          </p:nvPr>
        </p:nvSpPr>
        <p:spPr>
          <a:xfrm>
            <a:off x="533400" y="1600200"/>
            <a:ext cx="8382000" cy="4495800"/>
          </a:xfrm>
        </p:spPr>
        <p:txBody>
          <a:bodyPr>
            <a:noAutofit/>
          </a:bodyPr>
          <a:lstStyle/>
          <a:p>
            <a:pPr algn="just"/>
            <a:r>
              <a:rPr lang="en-US" sz="1800" dirty="0">
                <a:cs typeface="Times New Roman" panose="02020603050405020304" pitchFamily="18" charset="0"/>
              </a:rPr>
              <a:t>Drowsiness is one of the primary drivers of genuine car crashes in our day-by-day lives. The National Highway Traffic Safety Administration indicated that around 150 individuals are murdered in the United States every year due to driver tiredness. 71,000 harmed and $12.5 billion in misfortunes . Another report showed that the U.S.A government and organizations spend about $60.4 billion every year on mishaps identified with drowsiness. Due to drowsiness, it costs buyers about $16.4 billion in property harm, well-being cases, time, and efficiency misfortunes. Drive. In 2010, the National Sleep Foundation (NSF) detailed that 54% of grown-up drivers felt sluggish while driving a vehicle, and 28% were, in reality, sleeping. The German Road Safety Commission (Deutsche Verkehrs sicherheitsrat (DVR)) claims that a snapshot of driver tiredness brings about one-fourth of the through-way car accidents. Massive setbacks, wounds, and property harm brought about by drowsiness require critical strides in building up a robust framework that can identify drowsiness and make the right move before a mishap happens—the U.S.A Department of Transportation has additionally gained ground in assembling savvy vehicles to avoid such accidents. As individuals become progressively keen on wise transportation frameworks, developing a robust and down-to-earth sluggishness recognition framework is a critical advance. A great deal of research is at present in progress.</a:t>
            </a:r>
          </a:p>
        </p:txBody>
      </p:sp>
    </p:spTree>
    <p:extLst>
      <p:ext uri="{BB962C8B-B14F-4D97-AF65-F5344CB8AC3E}">
        <p14:creationId xmlns:p14="http://schemas.microsoft.com/office/powerpoint/2010/main" val="2712522348"/>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PROBLEM STATEMENT</a:t>
            </a:r>
            <a:endParaRPr lang="en-US" dirty="0">
              <a:latin typeface="Tw Cen MT (Headings)"/>
            </a:endParaRPr>
          </a:p>
        </p:txBody>
      </p:sp>
      <p:sp>
        <p:nvSpPr>
          <p:cNvPr id="3" name="Content Placeholder 2"/>
          <p:cNvSpPr>
            <a:spLocks noGrp="1"/>
          </p:cNvSpPr>
          <p:nvPr>
            <p:ph sz="quarter" idx="1"/>
          </p:nvPr>
        </p:nvSpPr>
        <p:spPr/>
        <p:txBody>
          <a:bodyPr>
            <a:normAutofit fontScale="92500" lnSpcReduction="10000"/>
          </a:bodyPr>
          <a:lstStyle/>
          <a:p>
            <a:pPr algn="just"/>
            <a:r>
              <a:rPr lang="en-US" sz="2700" dirty="0">
                <a:latin typeface="Tw Cen MT" panose="020B0602020104020603" pitchFamily="34" charset="0"/>
                <a:cs typeface="Times New Roman" panose="02020603050405020304" pitchFamily="18" charset="0"/>
              </a:rPr>
              <a:t>Driver fatigue and drowsiness are major causes of road accidents worldwide, leading to loss of life, injuries, and property damage.</a:t>
            </a:r>
          </a:p>
          <a:p>
            <a:pPr algn="just"/>
            <a:r>
              <a:rPr lang="en-US" sz="2700" dirty="0">
                <a:latin typeface="Tw Cen MT" panose="020B0602020104020603" pitchFamily="34" charset="0"/>
                <a:cs typeface="Times New Roman" panose="02020603050405020304" pitchFamily="18" charset="0"/>
              </a:rPr>
              <a:t>Traditional methods of monitoring driver alertness rely on self-awareness or manual checks, which are unreliable and ineffective in real-time scenarios. </a:t>
            </a:r>
          </a:p>
          <a:p>
            <a:pPr algn="just"/>
            <a:r>
              <a:rPr lang="en-US" sz="2700" dirty="0">
                <a:latin typeface="Tw Cen MT" panose="020B0602020104020603" pitchFamily="34" charset="0"/>
                <a:cs typeface="Times New Roman" panose="02020603050405020304" pitchFamily="18" charset="0"/>
              </a:rPr>
              <a:t>There is a critical need for an automated, real-time system that can continuously monitor a driver’s facial expressions and eye movements to accurately detect signs of drowsiness. Such a system should be low-cost, efficient, and capable of providing immediate alerts to prevent accidents caused by reduced driver alertness.</a:t>
            </a:r>
          </a:p>
        </p:txBody>
      </p:sp>
    </p:spTree>
    <p:extLst>
      <p:ext uri="{BB962C8B-B14F-4D97-AF65-F5344CB8AC3E}">
        <p14:creationId xmlns:p14="http://schemas.microsoft.com/office/powerpoint/2010/main" val="260814948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imes New Roman" panose="02020603050405020304" pitchFamily="18" charset="0"/>
              </a:rPr>
              <a:t>EXISTING SYSTEM</a:t>
            </a:r>
            <a:endParaRPr lang="en-US" dirty="0"/>
          </a:p>
        </p:txBody>
      </p:sp>
      <p:sp>
        <p:nvSpPr>
          <p:cNvPr id="3" name="Content Placeholder 2"/>
          <p:cNvSpPr>
            <a:spLocks noGrp="1"/>
          </p:cNvSpPr>
          <p:nvPr>
            <p:ph sz="quarter" idx="1"/>
          </p:nvPr>
        </p:nvSpPr>
        <p:spPr/>
        <p:txBody>
          <a:bodyPr>
            <a:normAutofit lnSpcReduction="10000"/>
          </a:bodyPr>
          <a:lstStyle/>
          <a:p>
            <a:r>
              <a:rPr lang="en-US" sz="2400" dirty="0">
                <a:cs typeface="Times New Roman" panose="02020603050405020304" pitchFamily="18" charset="0"/>
              </a:rPr>
              <a:t>Current drowsiness detection systems monitoring the driver’s condition requires complex computation and expensive equipment, not comfortable to wear during driving and is not suitable for driving conditions. For example, Electroencephalography (EEG) and Electrocardiography (ECG), i.e, detecting the brain frequency and measuring the rhythm of heart, respectively. A drowsiness detection system which use a camera placed in front of the driver is more suitable to be use but the physical signs that will indicate drowsiness need to be located first in order to come up with a drowsiness detection algorithm that is reliable and accurate. Lighting intensity and while the driver tilt their face left or right are the problems occur during detection of eyes and mouth region. </a:t>
            </a:r>
            <a:endParaRPr lang="en-IN" sz="2400" dirty="0">
              <a:cs typeface="Times New Roman" panose="02020603050405020304" pitchFamily="18" charset="0"/>
            </a:endParaRPr>
          </a:p>
          <a:p>
            <a:pPr algn="just"/>
            <a:endParaRPr lang="en-IN" sz="2400" dirty="0">
              <a:latin typeface="Tw Cen MT" panose="020B0602020104020603" pitchFamily="34" charset="0"/>
            </a:endParaRPr>
          </a:p>
        </p:txBody>
      </p:sp>
    </p:spTree>
    <p:extLst>
      <p:ext uri="{BB962C8B-B14F-4D97-AF65-F5344CB8AC3E}">
        <p14:creationId xmlns:p14="http://schemas.microsoft.com/office/powerpoint/2010/main" val="1903410958"/>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DISADVANTAGES</a:t>
            </a:r>
            <a:endParaRPr lang="en-US" dirty="0"/>
          </a:p>
        </p:txBody>
      </p:sp>
      <p:sp>
        <p:nvSpPr>
          <p:cNvPr id="3" name="Content Placeholder 2"/>
          <p:cNvSpPr>
            <a:spLocks noGrp="1"/>
          </p:cNvSpPr>
          <p:nvPr>
            <p:ph sz="quarter" idx="1"/>
          </p:nvPr>
        </p:nvSpPr>
        <p:spPr/>
        <p:txBody>
          <a:bodyPr>
            <a:normAutofit/>
          </a:bodyPr>
          <a:lstStyle/>
          <a:p>
            <a:pPr algn="just"/>
            <a:r>
              <a:rPr lang="en-US" sz="2400" dirty="0">
                <a:cs typeface="Times New Roman" panose="02020603050405020304" pitchFamily="18" charset="0"/>
              </a:rPr>
              <a:t>It does not execute very well when the data set has more sound i.e. target classes are overlapping. In cases where the number of properties for each data point outstrips the number of training data specimens, the support vector machine will underperform.</a:t>
            </a:r>
          </a:p>
          <a:p>
            <a:pPr algn="just"/>
            <a:r>
              <a:rPr lang="en-US" sz="2400" dirty="0"/>
              <a:t>The system may not work well when there are sudden changes in lighting conditions, such as driving at night, bright sunlight directly hitting the face, or passing through tunnels. These variations can confuse the camera and reduce the accuracy of eye-blink or yawning detection.</a:t>
            </a:r>
            <a:endParaRPr lang="en-IN" sz="2400" dirty="0"/>
          </a:p>
          <a:p>
            <a:pPr algn="just"/>
            <a:endParaRPr lang="en-IN" sz="2400" dirty="0"/>
          </a:p>
        </p:txBody>
      </p:sp>
    </p:spTree>
    <p:extLst>
      <p:ext uri="{BB962C8B-B14F-4D97-AF65-F5344CB8AC3E}">
        <p14:creationId xmlns:p14="http://schemas.microsoft.com/office/powerpoint/2010/main" val="2792640325"/>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a:t>
            </a:r>
            <a:r>
              <a:rPr lang="en-US" dirty="0">
                <a:cs typeface="Times New Roman" panose="02020603050405020304" pitchFamily="18" charset="0"/>
              </a:rPr>
              <a:t>PROPOSED SYSTEM</a:t>
            </a:r>
            <a:endParaRPr lang="en-US" dirty="0"/>
          </a:p>
        </p:txBody>
      </p:sp>
      <p:sp>
        <p:nvSpPr>
          <p:cNvPr id="3" name="Content Placeholder 2"/>
          <p:cNvSpPr>
            <a:spLocks noGrp="1"/>
          </p:cNvSpPr>
          <p:nvPr>
            <p:ph sz="quarter" idx="1"/>
          </p:nvPr>
        </p:nvSpPr>
        <p:spPr>
          <a:xfrm>
            <a:off x="612648" y="1600200"/>
            <a:ext cx="8153400" cy="5105400"/>
          </a:xfrm>
        </p:spPr>
        <p:txBody>
          <a:bodyPr>
            <a:normAutofit lnSpcReduction="10000"/>
          </a:bodyPr>
          <a:lstStyle/>
          <a:p>
            <a:pPr algn="just"/>
            <a:r>
              <a:rPr lang="en-US" sz="2400" dirty="0"/>
              <a:t>The proposed system detects driver drowsiness in real time using deep learning techniques. A camera continuously captures the driver’s facial images, which are analyzed using a Convolutional Neural Network (CNN) to identify signs such as eye closure and head position. The system classifies the driver’s state as either alert or drowsy. </a:t>
            </a:r>
          </a:p>
          <a:p>
            <a:pPr algn="just"/>
            <a:r>
              <a:rPr lang="en-US" sz="2400" dirty="0"/>
              <a:t>The model is trained using the MRL Eye Dataset, which contains approximately 80,000 images of open and closed eyes, with 60,000 images used for training, 10,000 for testing, and 10,000 for validation. When drowsiness is detected, the system immediately generates audio alerts to warn the driver. The implementation uses Streamlit as the framework, OpenCV for image processing, NumPy for numerical operations, and TensorFlow for building and training the deep learning model.</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390653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ADVANTAGES</a:t>
            </a:r>
          </a:p>
        </p:txBody>
      </p:sp>
      <p:sp>
        <p:nvSpPr>
          <p:cNvPr id="3" name="Content Placeholder 2"/>
          <p:cNvSpPr>
            <a:spLocks noGrp="1"/>
          </p:cNvSpPr>
          <p:nvPr>
            <p:ph sz="quarter" idx="1"/>
          </p:nvPr>
        </p:nvSpPr>
        <p:spPr/>
        <p:txBody>
          <a:bodyPr/>
          <a:lstStyle/>
          <a:p>
            <a:pPr algn="just" fontAlgn="base"/>
            <a:r>
              <a:rPr lang="en-US" sz="2400" dirty="0">
                <a:cs typeface="Times New Roman" panose="02020603050405020304" pitchFamily="18" charset="0"/>
              </a:rPr>
              <a:t>Providing real-time drowsiness feedback to the driver.</a:t>
            </a:r>
          </a:p>
          <a:p>
            <a:pPr algn="just" fontAlgn="base"/>
            <a:r>
              <a:rPr lang="en-US" sz="2400" dirty="0">
                <a:cs typeface="Times New Roman" panose="02020603050405020304" pitchFamily="18" charset="0"/>
              </a:rPr>
              <a:t>Providing performance feedback to a fatigue management program.</a:t>
            </a:r>
          </a:p>
          <a:p>
            <a:pPr algn="just" fontAlgn="base"/>
            <a:r>
              <a:rPr lang="en-US" sz="2400" dirty="0">
                <a:cs typeface="Times New Roman" panose="02020603050405020304" pitchFamily="18" charset="0"/>
              </a:rPr>
              <a:t>Providing regulatory compliance information to enforcement officials.</a:t>
            </a:r>
          </a:p>
          <a:p>
            <a:pPr marL="0" indent="0" algn="just" fontAlgn="base">
              <a:buNone/>
            </a:pPr>
            <a:endParaRPr lang="en-US" sz="2400" dirty="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387359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SYSTEM REQUIREMENTS</a:t>
            </a:r>
            <a:endParaRPr lang="en-US" dirty="0"/>
          </a:p>
        </p:txBody>
      </p:sp>
      <p:sp>
        <p:nvSpPr>
          <p:cNvPr id="3" name="Content Placeholder 2"/>
          <p:cNvSpPr>
            <a:spLocks noGrp="1"/>
          </p:cNvSpPr>
          <p:nvPr>
            <p:ph sz="quarter" idx="1"/>
          </p:nvPr>
        </p:nvSpPr>
        <p:spPr/>
        <p:txBody>
          <a:bodyPr>
            <a:normAutofit fontScale="92500" lnSpcReduction="10000"/>
          </a:bodyPr>
          <a:lstStyle/>
          <a:p>
            <a:pPr marL="0" indent="0">
              <a:buNone/>
            </a:pPr>
            <a:r>
              <a:rPr lang="en-US" b="1" u="sng" dirty="0"/>
              <a:t>Software Requirements:</a:t>
            </a:r>
            <a:endParaRPr lang="en-IN" sz="2400" dirty="0"/>
          </a:p>
          <a:p>
            <a:r>
              <a:rPr lang="en-US" dirty="0"/>
              <a:t>Operating system: Windows 10/11</a:t>
            </a:r>
            <a:endParaRPr lang="en-IN" sz="2400" dirty="0"/>
          </a:p>
          <a:p>
            <a:r>
              <a:rPr lang="en-US" dirty="0"/>
              <a:t>Programming Language: Python</a:t>
            </a:r>
            <a:endParaRPr lang="en-IN" sz="2400" dirty="0"/>
          </a:p>
          <a:p>
            <a:r>
              <a:rPr lang="en-IN" dirty="0"/>
              <a:t>Development Environment: Visual Studio Code</a:t>
            </a:r>
          </a:p>
          <a:p>
            <a:r>
              <a:rPr lang="en-IN" dirty="0"/>
              <a:t>Framework: </a:t>
            </a:r>
            <a:r>
              <a:rPr lang="en-IN" dirty="0" err="1"/>
              <a:t>Streamlit</a:t>
            </a:r>
            <a:endParaRPr lang="en-IN" dirty="0"/>
          </a:p>
          <a:p>
            <a:r>
              <a:rPr lang="en-US" dirty="0"/>
              <a:t>Libraries &amp; Packages: </a:t>
            </a:r>
            <a:endParaRPr lang="en-IN" sz="2400" dirty="0"/>
          </a:p>
          <a:p>
            <a:pPr marL="0" indent="0">
              <a:buNone/>
            </a:pPr>
            <a:r>
              <a:rPr lang="en-US" dirty="0"/>
              <a:t>          OpenCV (for image processing)</a:t>
            </a:r>
            <a:endParaRPr lang="en-IN" sz="2400" dirty="0"/>
          </a:p>
          <a:p>
            <a:pPr marL="0" indent="0">
              <a:buNone/>
            </a:pPr>
            <a:r>
              <a:rPr lang="en-US" dirty="0"/>
              <a:t>          NumPy (for array and matrix operations)</a:t>
            </a:r>
            <a:endParaRPr lang="en-IN" sz="2400" dirty="0"/>
          </a:p>
          <a:p>
            <a:pPr marL="0" indent="0">
              <a:buNone/>
            </a:pPr>
            <a:r>
              <a:rPr lang="en-US" dirty="0"/>
              <a:t>          </a:t>
            </a:r>
            <a:r>
              <a:rPr lang="en-IN" dirty="0"/>
              <a:t>TensorFlow </a:t>
            </a:r>
          </a:p>
          <a:p>
            <a:pPr marL="0" indent="0">
              <a:buNone/>
            </a:pPr>
            <a:endParaRPr lang="en-IN" sz="2400" dirty="0"/>
          </a:p>
          <a:p>
            <a:pPr marL="0" indent="0">
              <a:buNone/>
            </a:pPr>
            <a:endParaRPr lang="en-US" sz="2400" dirty="0"/>
          </a:p>
        </p:txBody>
      </p:sp>
    </p:spTree>
    <p:extLst>
      <p:ext uri="{BB962C8B-B14F-4D97-AF65-F5344CB8AC3E}">
        <p14:creationId xmlns:p14="http://schemas.microsoft.com/office/powerpoint/2010/main" val="17311825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SYSTEM REQUIREMENTS</a:t>
            </a:r>
            <a:endParaRPr lang="en-US" dirty="0"/>
          </a:p>
        </p:txBody>
      </p:sp>
      <p:sp>
        <p:nvSpPr>
          <p:cNvPr id="3" name="Content Placeholder 2"/>
          <p:cNvSpPr>
            <a:spLocks noGrp="1"/>
          </p:cNvSpPr>
          <p:nvPr>
            <p:ph sz="quarter" idx="1"/>
          </p:nvPr>
        </p:nvSpPr>
        <p:spPr/>
        <p:txBody>
          <a:bodyPr>
            <a:normAutofit/>
          </a:bodyPr>
          <a:lstStyle/>
          <a:p>
            <a:pPr marL="0" indent="0">
              <a:buNone/>
            </a:pPr>
            <a:r>
              <a:rPr lang="en-US" b="1" u="sng" dirty="0"/>
              <a:t>Hardware Requirements:</a:t>
            </a:r>
            <a:endParaRPr lang="en-IN" sz="2400" dirty="0"/>
          </a:p>
          <a:p>
            <a:r>
              <a:rPr lang="en-US" dirty="0"/>
              <a:t>Processor: Intel i3 or above</a:t>
            </a:r>
          </a:p>
          <a:p>
            <a:r>
              <a:rPr lang="en-US" dirty="0"/>
              <a:t>CPU Speed: 1.6 GHz or higher</a:t>
            </a:r>
          </a:p>
          <a:p>
            <a:r>
              <a:rPr lang="en-US" dirty="0"/>
              <a:t>Hard Disk: 256 GB</a:t>
            </a:r>
            <a:endParaRPr lang="en-IN" sz="2400" dirty="0"/>
          </a:p>
          <a:p>
            <a:r>
              <a:rPr lang="en-US" dirty="0"/>
              <a:t>Display: 15’’ LED Monitor</a:t>
            </a:r>
            <a:endParaRPr lang="en-IN" dirty="0"/>
          </a:p>
          <a:p>
            <a:r>
              <a:rPr lang="en-US" dirty="0"/>
              <a:t>Input Devices: Keyboard, mouse</a:t>
            </a:r>
            <a:endParaRPr lang="en-IN" sz="2400" dirty="0"/>
          </a:p>
          <a:p>
            <a:r>
              <a:rPr lang="en-US" dirty="0"/>
              <a:t>RAM: 4 GB or Above</a:t>
            </a:r>
            <a:endParaRPr lang="en-IN" sz="2400" dirty="0"/>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52370817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7270-700B-EA98-2358-4A28474830D0}"/>
              </a:ext>
            </a:extLst>
          </p:cNvPr>
          <p:cNvSpPr>
            <a:spLocks noGrp="1"/>
          </p:cNvSpPr>
          <p:nvPr>
            <p:ph type="title"/>
          </p:nvPr>
        </p:nvSpPr>
        <p:spPr/>
        <p:txBody>
          <a:bodyPr/>
          <a:lstStyle/>
          <a:p>
            <a:r>
              <a:rPr lang="en-IN" dirty="0"/>
              <a:t>SYSTEM ARCHITECTURE</a:t>
            </a:r>
          </a:p>
        </p:txBody>
      </p:sp>
      <p:pic>
        <p:nvPicPr>
          <p:cNvPr id="5" name="Content Placeholder 4">
            <a:extLst>
              <a:ext uri="{FF2B5EF4-FFF2-40B4-BE49-F238E27FC236}">
                <a16:creationId xmlns:a16="http://schemas.microsoft.com/office/drawing/2014/main" id="{0140FB5C-462F-0589-30A0-89C03AF7339D}"/>
              </a:ext>
            </a:extLst>
          </p:cNvPr>
          <p:cNvPicPr>
            <a:picLocks noGrp="1" noChangeAspect="1"/>
          </p:cNvPicPr>
          <p:nvPr>
            <p:ph sz="quarter" idx="1"/>
          </p:nvPr>
        </p:nvPicPr>
        <p:blipFill>
          <a:blip r:embed="rId2"/>
          <a:stretch>
            <a:fillRect/>
          </a:stretch>
        </p:blipFill>
        <p:spPr>
          <a:xfrm>
            <a:off x="1752600" y="1600200"/>
            <a:ext cx="5791200" cy="4953000"/>
          </a:xfrm>
          <a:prstGeom prst="rect">
            <a:avLst/>
          </a:prstGeom>
        </p:spPr>
      </p:pic>
    </p:spTree>
    <p:extLst>
      <p:ext uri="{BB962C8B-B14F-4D97-AF65-F5344CB8AC3E}">
        <p14:creationId xmlns:p14="http://schemas.microsoft.com/office/powerpoint/2010/main" val="840209048"/>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EBFC-7750-1651-329B-DCF9408487D8}"/>
              </a:ext>
            </a:extLst>
          </p:cNvPr>
          <p:cNvSpPr>
            <a:spLocks noGrp="1"/>
          </p:cNvSpPr>
          <p:nvPr>
            <p:ph type="title"/>
          </p:nvPr>
        </p:nvSpPr>
        <p:spPr/>
        <p:txBody>
          <a:bodyPr/>
          <a:lstStyle/>
          <a:p>
            <a:r>
              <a:rPr lang="en-IN" dirty="0"/>
              <a:t>SYSTEM ARCHITECTURE</a:t>
            </a:r>
          </a:p>
        </p:txBody>
      </p:sp>
      <p:sp>
        <p:nvSpPr>
          <p:cNvPr id="4" name="Rectangle 1">
            <a:extLst>
              <a:ext uri="{FF2B5EF4-FFF2-40B4-BE49-F238E27FC236}">
                <a16:creationId xmlns:a16="http://schemas.microsoft.com/office/drawing/2014/main" id="{1A31FEBA-2835-28F4-2297-8270CE0F21CD}"/>
              </a:ext>
            </a:extLst>
          </p:cNvPr>
          <p:cNvSpPr>
            <a:spLocks noGrp="1" noChangeArrowheads="1"/>
          </p:cNvSpPr>
          <p:nvPr>
            <p:ph sz="quarter" idx="1"/>
          </p:nvPr>
        </p:nvSpPr>
        <p:spPr bwMode="auto">
          <a:xfrm>
            <a:off x="420624" y="1600200"/>
            <a:ext cx="830275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
                <a:srgbClr val="FFC000"/>
              </a:buClr>
            </a:pPr>
            <a:r>
              <a:rPr kumimoji="0" lang="en-US" altLang="en-US" sz="2200" b="0" i="0" u="none" strike="noStrike" cap="none" normalizeH="0" baseline="0" dirty="0">
                <a:ln>
                  <a:noFill/>
                </a:ln>
                <a:solidFill>
                  <a:schemeClr val="tx1"/>
                </a:solidFill>
                <a:effectLst/>
              </a:rPr>
              <a:t>The system starts by collecting facial images from a dataset to train the  CNN model.</a:t>
            </a:r>
          </a:p>
          <a:p>
            <a:pPr eaLnBrk="0" fontAlgn="base" hangingPunct="0">
              <a:spcBef>
                <a:spcPct val="0"/>
              </a:spcBef>
              <a:spcAft>
                <a:spcPct val="0"/>
              </a:spcAft>
              <a:buClr>
                <a:srgbClr val="FFC000"/>
              </a:buClr>
            </a:pPr>
            <a:r>
              <a:rPr lang="en-US" altLang="en-US" sz="2200" dirty="0"/>
              <a:t>A camera captures live video of the driver during driving.</a:t>
            </a:r>
          </a:p>
          <a:p>
            <a:pPr eaLnBrk="0" fontAlgn="base" hangingPunct="0">
              <a:spcBef>
                <a:spcPct val="0"/>
              </a:spcBef>
              <a:spcAft>
                <a:spcPct val="0"/>
              </a:spcAft>
              <a:buClr>
                <a:srgbClr val="FFC000"/>
              </a:buClr>
            </a:pPr>
            <a:r>
              <a:rPr lang="en-US" altLang="en-US" sz="2200" dirty="0"/>
              <a:t>Face detection is applied to locate the driver’s face in each video frame.</a:t>
            </a:r>
          </a:p>
          <a:p>
            <a:pPr eaLnBrk="0" fontAlgn="base" hangingPunct="0">
              <a:spcBef>
                <a:spcPct val="0"/>
              </a:spcBef>
              <a:spcAft>
                <a:spcPct val="0"/>
              </a:spcAft>
              <a:buClr>
                <a:srgbClr val="FFC000"/>
              </a:buClr>
            </a:pPr>
            <a:r>
              <a:rPr lang="en-US" altLang="en-US" sz="2200" dirty="0"/>
              <a:t>Eye tracking is performed and the eye features are given to the CNN classifier.</a:t>
            </a:r>
          </a:p>
          <a:p>
            <a:pPr eaLnBrk="0" fontAlgn="base" hangingPunct="0">
              <a:spcBef>
                <a:spcPct val="0"/>
              </a:spcBef>
              <a:spcAft>
                <a:spcPct val="0"/>
              </a:spcAft>
              <a:buClr>
                <a:srgbClr val="FFC000"/>
              </a:buClr>
            </a:pPr>
            <a:r>
              <a:rPr lang="en-US" altLang="en-US" sz="2200" dirty="0"/>
              <a:t>The CNN classifier checks whether the driver is drowsy or not.</a:t>
            </a:r>
          </a:p>
          <a:p>
            <a:pPr eaLnBrk="0" fontAlgn="base" hangingPunct="0">
              <a:spcBef>
                <a:spcPct val="0"/>
              </a:spcBef>
              <a:spcAft>
                <a:spcPct val="0"/>
              </a:spcAft>
              <a:buClr>
                <a:srgbClr val="FFC000"/>
              </a:buClr>
            </a:pPr>
            <a:r>
              <a:rPr lang="en-US" altLang="en-US" sz="2200" dirty="0"/>
              <a:t>At the same time, mouth tracking is done and the Mouth Opening Ratio (MOR) is calculated.</a:t>
            </a:r>
          </a:p>
          <a:p>
            <a:pPr eaLnBrk="0" fontAlgn="base" hangingPunct="0">
              <a:spcBef>
                <a:spcPct val="0"/>
              </a:spcBef>
              <a:spcAft>
                <a:spcPct val="0"/>
              </a:spcAft>
              <a:buClr>
                <a:srgbClr val="FFC000"/>
              </a:buClr>
            </a:pPr>
            <a:r>
              <a:rPr lang="en-US" altLang="en-US" sz="2200" dirty="0"/>
              <a:t>The MOR value is compared with a threshold to detect yawning.</a:t>
            </a:r>
          </a:p>
          <a:p>
            <a:pPr eaLnBrk="0" fontAlgn="base" hangingPunct="0">
              <a:spcBef>
                <a:spcPct val="0"/>
              </a:spcBef>
              <a:spcAft>
                <a:spcPct val="0"/>
              </a:spcAft>
              <a:buClr>
                <a:srgbClr val="FFC000"/>
              </a:buClr>
            </a:pPr>
            <a:r>
              <a:rPr lang="en-US" altLang="en-US" sz="2200" dirty="0"/>
              <a:t>If either eye-based detection or mouth-based detection indicates drowsiness, the system confirms drowsiness.</a:t>
            </a:r>
          </a:p>
          <a:p>
            <a:pPr eaLnBrk="0" fontAlgn="base" hangingPunct="0">
              <a:spcBef>
                <a:spcPct val="0"/>
              </a:spcBef>
              <a:spcAft>
                <a:spcPct val="0"/>
              </a:spcAft>
              <a:buClr>
                <a:srgbClr val="FFC000"/>
              </a:buClr>
            </a:pPr>
            <a:r>
              <a:rPr lang="en-US" altLang="en-US" sz="2200" dirty="0"/>
              <a:t>Once drowsiness is detected, the alarm rings to alert the driver.</a:t>
            </a:r>
          </a:p>
          <a:p>
            <a:pPr eaLnBrk="0" fontAlgn="base" hangingPunct="0">
              <a:spcBef>
                <a:spcPct val="0"/>
              </a:spcBef>
              <a:spcAft>
                <a:spcPct val="0"/>
              </a:spcAft>
              <a:buClr>
                <a:srgbClr val="FFC000"/>
              </a:buClr>
            </a:pP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710794274"/>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4A42A-7884-04D0-DE55-B25A653ADE03}"/>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24EBC32B-8A59-9922-1C14-337322D79EBB}"/>
              </a:ext>
            </a:extLst>
          </p:cNvPr>
          <p:cNvSpPr>
            <a:spLocks noGrp="1"/>
          </p:cNvSpPr>
          <p:nvPr>
            <p:ph sz="quarter" idx="1"/>
          </p:nvPr>
        </p:nvSpPr>
        <p:spPr/>
        <p:txBody>
          <a:bodyPr>
            <a:normAutofit/>
          </a:bodyPr>
          <a:lstStyle/>
          <a:p>
            <a:r>
              <a:rPr lang="en-IN" sz="3200" dirty="0"/>
              <a:t>Data Acquisition Module</a:t>
            </a:r>
          </a:p>
          <a:p>
            <a:r>
              <a:rPr lang="en-IN" sz="3200" dirty="0"/>
              <a:t>Preprocessing and Augmentation Module</a:t>
            </a:r>
          </a:p>
          <a:p>
            <a:r>
              <a:rPr lang="en-IN" sz="3200" dirty="0"/>
              <a:t>Feature Extraction Module</a:t>
            </a:r>
          </a:p>
          <a:p>
            <a:r>
              <a:rPr lang="en-IN" sz="3200" dirty="0"/>
              <a:t>Deep learning/Classification Module</a:t>
            </a:r>
          </a:p>
          <a:p>
            <a:r>
              <a:rPr lang="en-IN" sz="3200" dirty="0"/>
              <a:t>Result and Alert Module</a:t>
            </a:r>
          </a:p>
        </p:txBody>
      </p:sp>
    </p:spTree>
    <p:extLst>
      <p:ext uri="{BB962C8B-B14F-4D97-AF65-F5344CB8AC3E}">
        <p14:creationId xmlns:p14="http://schemas.microsoft.com/office/powerpoint/2010/main" val="228235606"/>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28363-228D-600E-D6DE-EF9C05AB418E}"/>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305499B4-745B-C429-4D03-2473B48F0E37}"/>
              </a:ext>
            </a:extLst>
          </p:cNvPr>
          <p:cNvSpPr>
            <a:spLocks noGrp="1"/>
          </p:cNvSpPr>
          <p:nvPr>
            <p:ph sz="quarter" idx="1"/>
          </p:nvPr>
        </p:nvSpPr>
        <p:spPr>
          <a:xfrm>
            <a:off x="612648" y="1447800"/>
            <a:ext cx="8153400" cy="5410200"/>
          </a:xfrm>
        </p:spPr>
        <p:txBody>
          <a:bodyPr>
            <a:noAutofit/>
          </a:bodyPr>
          <a:lstStyle/>
          <a:p>
            <a:pPr marL="0" indent="0">
              <a:buNone/>
            </a:pPr>
            <a:r>
              <a:rPr lang="en-US" b="1" dirty="0"/>
              <a:t>1. Data Acquisition Module:</a:t>
            </a:r>
            <a:endParaRPr lang="en-US" sz="2000" dirty="0"/>
          </a:p>
          <a:p>
            <a:r>
              <a:rPr lang="en-US" sz="2000" dirty="0"/>
              <a:t>This module is responsible for capturing live video frames of the driver’s face using a camera installed in the vehicle. </a:t>
            </a:r>
          </a:p>
          <a:p>
            <a:r>
              <a:rPr lang="en-US" sz="2000" dirty="0"/>
              <a:t>The system may also utilize a pre-collected dataset of labeled facial images showing alert and drowsy states for training the model. </a:t>
            </a:r>
          </a:p>
          <a:p>
            <a:r>
              <a:rPr lang="en-US" sz="2000" dirty="0"/>
              <a:t>Accurate data acquisition ensures that the model can effectively learn and monitor signs of drowsiness in real-time conditions.</a:t>
            </a:r>
          </a:p>
          <a:p>
            <a:pPr marL="0" indent="0">
              <a:buNone/>
            </a:pPr>
            <a:r>
              <a:rPr lang="en-US" b="1" dirty="0"/>
              <a:t>2. Preprocessing and Augmentation Module:</a:t>
            </a:r>
            <a:endParaRPr lang="en-US" sz="2000" dirty="0"/>
          </a:p>
          <a:p>
            <a:r>
              <a:rPr lang="en-US" sz="2000" dirty="0"/>
              <a:t>The captured facial images are preprocessed to enhance the model’s performance. </a:t>
            </a:r>
          </a:p>
          <a:p>
            <a:r>
              <a:rPr lang="en-US" sz="2000" dirty="0"/>
              <a:t>Preprocessing steps include resizing images to a standard dimension, converting to grayscale if necessary, and normalizing pixel values. </a:t>
            </a:r>
          </a:p>
          <a:p>
            <a:r>
              <a:rPr lang="en-US" sz="2000" dirty="0"/>
              <a:t>Data augmentation techniques such as rotation, flipping, and brightness adjustment are applied to increase dataset diversity and improve model.</a:t>
            </a:r>
            <a:endParaRPr lang="en-IN" sz="2000" dirty="0"/>
          </a:p>
        </p:txBody>
      </p:sp>
    </p:spTree>
    <p:extLst>
      <p:ext uri="{BB962C8B-B14F-4D97-AF65-F5344CB8AC3E}">
        <p14:creationId xmlns:p14="http://schemas.microsoft.com/office/powerpoint/2010/main" val="203956496"/>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DC14-2DD3-3AAC-1D2C-0E6686C89A81}"/>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7C1AFE45-E80C-C862-D143-0ECF47B6D810}"/>
              </a:ext>
            </a:extLst>
          </p:cNvPr>
          <p:cNvSpPr>
            <a:spLocks noGrp="1"/>
          </p:cNvSpPr>
          <p:nvPr>
            <p:ph sz="quarter" idx="1"/>
          </p:nvPr>
        </p:nvSpPr>
        <p:spPr>
          <a:xfrm>
            <a:off x="612648" y="1752600"/>
            <a:ext cx="8153400" cy="5105400"/>
          </a:xfrm>
        </p:spPr>
        <p:txBody>
          <a:bodyPr>
            <a:normAutofit fontScale="25000" lnSpcReduction="20000"/>
          </a:bodyPr>
          <a:lstStyle/>
          <a:p>
            <a:pPr marL="0" indent="0">
              <a:buNone/>
            </a:pPr>
            <a:r>
              <a:rPr lang="en-US" sz="11600" b="1" dirty="0"/>
              <a:t>3. Feature Extraction Module:</a:t>
            </a:r>
            <a:endParaRPr lang="en-US" dirty="0"/>
          </a:p>
          <a:p>
            <a:r>
              <a:rPr lang="en-US" sz="8000" dirty="0"/>
              <a:t>The system uses a Convolutional Neural Network (CNN) to automatically extract relevant features from the driver’s facial images. </a:t>
            </a:r>
          </a:p>
          <a:p>
            <a:r>
              <a:rPr lang="en-US" sz="8000" dirty="0"/>
              <a:t>Key features include eye closure, frequency of yawning, and head tilt or nodding. The CNN layers identify</a:t>
            </a:r>
          </a:p>
          <a:p>
            <a:r>
              <a:rPr lang="en-US" sz="8000" dirty="0"/>
              <a:t>both local and global patterns in the images, transforming raw data into feature representations suitable for classification.</a:t>
            </a:r>
          </a:p>
          <a:p>
            <a:endParaRPr lang="en-US" sz="8000" dirty="0"/>
          </a:p>
          <a:p>
            <a:pPr marL="0" indent="0">
              <a:buNone/>
            </a:pPr>
            <a:r>
              <a:rPr lang="en-US" sz="11600" b="1" dirty="0"/>
              <a:t>4. Deep Learning/Classification Module:</a:t>
            </a:r>
            <a:endParaRPr lang="en-US" sz="8000" dirty="0"/>
          </a:p>
          <a:p>
            <a:r>
              <a:rPr lang="en-US" sz="8000" dirty="0"/>
              <a:t>Extracted features are fed into the trained CNN model to classify the driver’s state as either alert or drowsy. </a:t>
            </a:r>
          </a:p>
          <a:p>
            <a:r>
              <a:rPr lang="en-US" sz="8000" dirty="0"/>
              <a:t>The model continuously evaluates frames in real time, providing high accuracy in detecting fatigue. </a:t>
            </a:r>
          </a:p>
          <a:p>
            <a:r>
              <a:rPr lang="en-US" sz="8000" dirty="0"/>
              <a:t>Classification results are generated for each frame, allowing the system to determine the driver’s vigilance level dynamically.</a:t>
            </a:r>
            <a:endParaRPr lang="en-IN" sz="8000" dirty="0"/>
          </a:p>
        </p:txBody>
      </p:sp>
    </p:spTree>
    <p:extLst>
      <p:ext uri="{BB962C8B-B14F-4D97-AF65-F5344CB8AC3E}">
        <p14:creationId xmlns:p14="http://schemas.microsoft.com/office/powerpoint/2010/main" val="1698583383"/>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79FB1-1DE4-E80B-50A4-A7C40A3964D1}"/>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E724D2E9-5464-90B4-6A83-01E3D616051D}"/>
              </a:ext>
            </a:extLst>
          </p:cNvPr>
          <p:cNvSpPr>
            <a:spLocks noGrp="1"/>
          </p:cNvSpPr>
          <p:nvPr>
            <p:ph sz="quarter" idx="1"/>
          </p:nvPr>
        </p:nvSpPr>
        <p:spPr/>
        <p:txBody>
          <a:bodyPr>
            <a:normAutofit/>
          </a:bodyPr>
          <a:lstStyle/>
          <a:p>
            <a:pPr marL="0" indent="0">
              <a:buNone/>
            </a:pPr>
            <a:r>
              <a:rPr lang="en-US" b="1" dirty="0"/>
              <a:t>5. Result and Alert Module:</a:t>
            </a:r>
            <a:endParaRPr lang="en-US" dirty="0"/>
          </a:p>
          <a:p>
            <a:r>
              <a:rPr lang="en-US" sz="2000" dirty="0"/>
              <a:t>Once drowsiness is detected, this module triggers immediate notifications to the driver through audio and visual alerts. </a:t>
            </a:r>
          </a:p>
          <a:p>
            <a:r>
              <a:rPr lang="en-US" sz="2000" dirty="0"/>
              <a:t>The system may also log results for further analysis, such as tracking driver alertness patterns over time.</a:t>
            </a:r>
          </a:p>
          <a:p>
            <a:r>
              <a:rPr lang="en-US" sz="2000" dirty="0"/>
              <a:t> This module ensures timely intervention, reducing the risk of accidents caused by driver fatigue.</a:t>
            </a:r>
            <a:endParaRPr lang="en-IN" sz="2000" dirty="0"/>
          </a:p>
        </p:txBody>
      </p:sp>
    </p:spTree>
    <p:extLst>
      <p:ext uri="{BB962C8B-B14F-4D97-AF65-F5344CB8AC3E}">
        <p14:creationId xmlns:p14="http://schemas.microsoft.com/office/powerpoint/2010/main" val="2557269848"/>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C4472-2D98-6C1D-5599-046040E9CD21}"/>
              </a:ext>
            </a:extLst>
          </p:cNvPr>
          <p:cNvSpPr>
            <a:spLocks noGrp="1"/>
          </p:cNvSpPr>
          <p:nvPr>
            <p:ph type="title"/>
          </p:nvPr>
        </p:nvSpPr>
        <p:spPr>
          <a:xfrm>
            <a:off x="533400" y="533400"/>
            <a:ext cx="8232648" cy="457200"/>
          </a:xfrm>
        </p:spPr>
        <p:txBody>
          <a:bodyPr>
            <a:normAutofit fontScale="90000"/>
          </a:bodyPr>
          <a:lstStyle/>
          <a:p>
            <a:br>
              <a:rPr lang="en-IN" dirty="0"/>
            </a:br>
            <a:r>
              <a:rPr lang="en-US" b="1" dirty="0"/>
              <a:t> UML DIAGRAMS</a:t>
            </a:r>
            <a:br>
              <a:rPr lang="en-IN" b="1" dirty="0"/>
            </a:br>
            <a:r>
              <a:rPr lang="en-US" dirty="0"/>
              <a:t> </a:t>
            </a:r>
            <a:endParaRPr lang="en-IN" dirty="0"/>
          </a:p>
        </p:txBody>
      </p:sp>
      <p:sp>
        <p:nvSpPr>
          <p:cNvPr id="3" name="Content Placeholder 2">
            <a:extLst>
              <a:ext uri="{FF2B5EF4-FFF2-40B4-BE49-F238E27FC236}">
                <a16:creationId xmlns:a16="http://schemas.microsoft.com/office/drawing/2014/main" id="{DF91E99A-4617-B917-D10B-678F6551FC6B}"/>
              </a:ext>
            </a:extLst>
          </p:cNvPr>
          <p:cNvSpPr>
            <a:spLocks noGrp="1"/>
          </p:cNvSpPr>
          <p:nvPr>
            <p:ph sz="quarter" idx="1"/>
          </p:nvPr>
        </p:nvSpPr>
        <p:spPr/>
        <p:txBody>
          <a:bodyPr>
            <a:normAutofit fontScale="85000" lnSpcReduction="20000"/>
          </a:bodyPr>
          <a:lstStyle/>
          <a:p>
            <a:pPr marL="0" indent="0">
              <a:buNone/>
            </a:pPr>
            <a:r>
              <a:rPr lang="en-US" sz="3200" b="1" dirty="0"/>
              <a:t>What is UML?</a:t>
            </a:r>
            <a:endParaRPr lang="en-US" sz="3200" dirty="0"/>
          </a:p>
          <a:p>
            <a:r>
              <a:rPr lang="en-US" sz="2200" dirty="0"/>
              <a:t>The Unified Modelling Language (UML) is a standard language for specifying, visualizing, constructing, and documenting the artifacts of software systems, as well as for business modelling and other non-software </a:t>
            </a:r>
            <a:r>
              <a:rPr lang="en-US" sz="2200"/>
              <a:t>systems.</a:t>
            </a:r>
          </a:p>
          <a:p>
            <a:pPr marL="0" indent="0">
              <a:buNone/>
            </a:pPr>
            <a:endParaRPr lang="en-US" sz="2200" dirty="0"/>
          </a:p>
          <a:p>
            <a:pPr marL="0" indent="0">
              <a:buNone/>
            </a:pPr>
            <a:r>
              <a:rPr lang="en-US" sz="2400" dirty="0"/>
              <a:t>In this project seven basic UML diagrams have been explained:</a:t>
            </a:r>
            <a:endParaRPr lang="en-IN" sz="2400" dirty="0"/>
          </a:p>
          <a:p>
            <a:pPr lvl="0"/>
            <a:r>
              <a:rPr lang="en-US" sz="2400" dirty="0"/>
              <a:t>Class Diagram </a:t>
            </a:r>
            <a:endParaRPr lang="en-IN" sz="2400" dirty="0"/>
          </a:p>
          <a:p>
            <a:pPr lvl="0"/>
            <a:r>
              <a:rPr lang="en-US" sz="2400" dirty="0"/>
              <a:t>Use Case Diagram </a:t>
            </a:r>
            <a:endParaRPr lang="en-IN" sz="2400" dirty="0"/>
          </a:p>
          <a:p>
            <a:pPr lvl="0"/>
            <a:r>
              <a:rPr lang="en-US" sz="2400" dirty="0"/>
              <a:t>Sequence Diagram</a:t>
            </a:r>
            <a:endParaRPr lang="en-IN" sz="2400" dirty="0"/>
          </a:p>
          <a:p>
            <a:pPr lvl="0"/>
            <a:r>
              <a:rPr lang="en-US" sz="2400" dirty="0"/>
              <a:t>Activity Diagram</a:t>
            </a:r>
            <a:endParaRPr lang="en-IN" sz="2400" dirty="0"/>
          </a:p>
          <a:p>
            <a:pPr lvl="0"/>
            <a:r>
              <a:rPr lang="en-US" sz="2400" dirty="0"/>
              <a:t>Component Diagram</a:t>
            </a:r>
            <a:endParaRPr lang="en-IN" sz="2400" dirty="0"/>
          </a:p>
          <a:p>
            <a:pPr lvl="0"/>
            <a:r>
              <a:rPr lang="en-US" sz="2400" dirty="0"/>
              <a:t>Deployment Diagram</a:t>
            </a:r>
          </a:p>
          <a:p>
            <a:pPr lvl="0"/>
            <a:r>
              <a:rPr lang="en-US" sz="2400" dirty="0"/>
              <a:t>Collaboration Diagram</a:t>
            </a:r>
          </a:p>
          <a:p>
            <a:pPr lvl="0"/>
            <a:endParaRPr lang="en-IN" sz="2400" dirty="0"/>
          </a:p>
          <a:p>
            <a:endParaRPr lang="en-IN" sz="2000" dirty="0"/>
          </a:p>
        </p:txBody>
      </p:sp>
    </p:spTree>
    <p:extLst>
      <p:ext uri="{BB962C8B-B14F-4D97-AF65-F5344CB8AC3E}">
        <p14:creationId xmlns:p14="http://schemas.microsoft.com/office/powerpoint/2010/main" val="3555696857"/>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8654E-9AB7-ECA2-7AF0-F44FC3E20343}"/>
              </a:ext>
            </a:extLst>
          </p:cNvPr>
          <p:cNvSpPr>
            <a:spLocks noGrp="1"/>
          </p:cNvSpPr>
          <p:nvPr>
            <p:ph type="title"/>
          </p:nvPr>
        </p:nvSpPr>
        <p:spPr/>
        <p:txBody>
          <a:bodyPr/>
          <a:lstStyle/>
          <a:p>
            <a:r>
              <a:rPr lang="en-US" b="1" dirty="0"/>
              <a:t>Class Diagram</a:t>
            </a:r>
            <a:endParaRPr lang="en-IN" dirty="0"/>
          </a:p>
        </p:txBody>
      </p:sp>
      <p:pic>
        <p:nvPicPr>
          <p:cNvPr id="4" name="Content Placeholder 3">
            <a:extLst>
              <a:ext uri="{FF2B5EF4-FFF2-40B4-BE49-F238E27FC236}">
                <a16:creationId xmlns:a16="http://schemas.microsoft.com/office/drawing/2014/main" id="{13438538-F17E-DCE0-B05F-04C9E80BEC39}"/>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342458" y="2362200"/>
            <a:ext cx="469378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305A20C-891F-0E84-8EEB-FA9A1911B7CA}"/>
              </a:ext>
            </a:extLst>
          </p:cNvPr>
          <p:cNvSpPr txBox="1"/>
          <p:nvPr/>
        </p:nvSpPr>
        <p:spPr>
          <a:xfrm>
            <a:off x="612648" y="1676400"/>
            <a:ext cx="7388352" cy="646331"/>
          </a:xfrm>
          <a:prstGeom prst="rect">
            <a:avLst/>
          </a:prstGeom>
          <a:noFill/>
        </p:spPr>
        <p:txBody>
          <a:bodyPr wrap="square" rtlCol="0">
            <a:spAutoFit/>
          </a:bodyPr>
          <a:lstStyle/>
          <a:p>
            <a:pPr marL="285750" indent="-285750">
              <a:buFont typeface="Arial" panose="020B0604020202020204" pitchFamily="34" charset="0"/>
              <a:buChar char="•"/>
            </a:pPr>
            <a:r>
              <a:rPr lang="en-US" dirty="0"/>
              <a:t>Shows the structure of a system by representing classes, their attributes, methods, and relationships.</a:t>
            </a:r>
            <a:endParaRPr lang="en-IN" dirty="0"/>
          </a:p>
        </p:txBody>
      </p:sp>
    </p:spTree>
    <p:extLst>
      <p:ext uri="{BB962C8B-B14F-4D97-AF65-F5344CB8AC3E}">
        <p14:creationId xmlns:p14="http://schemas.microsoft.com/office/powerpoint/2010/main" val="177973206"/>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04CBC-86DC-8930-E36D-C50B93630C87}"/>
              </a:ext>
            </a:extLst>
          </p:cNvPr>
          <p:cNvSpPr>
            <a:spLocks noGrp="1"/>
          </p:cNvSpPr>
          <p:nvPr>
            <p:ph type="title"/>
          </p:nvPr>
        </p:nvSpPr>
        <p:spPr/>
        <p:txBody>
          <a:bodyPr/>
          <a:lstStyle/>
          <a:p>
            <a:r>
              <a:rPr lang="en-US" b="1" dirty="0"/>
              <a:t>Use Case Diagram</a:t>
            </a:r>
            <a:endParaRPr lang="en-IN" dirty="0"/>
          </a:p>
        </p:txBody>
      </p:sp>
      <p:pic>
        <p:nvPicPr>
          <p:cNvPr id="4" name="Content Placeholder 3">
            <a:extLst>
              <a:ext uri="{FF2B5EF4-FFF2-40B4-BE49-F238E27FC236}">
                <a16:creationId xmlns:a16="http://schemas.microsoft.com/office/drawing/2014/main" id="{39D77F41-1D0B-1440-ABA5-5FFCFDD4745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195294" y="2362200"/>
            <a:ext cx="498810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6F390BA-0B0F-77B4-4EF1-5455A334C0F7}"/>
              </a:ext>
            </a:extLst>
          </p:cNvPr>
          <p:cNvSpPr txBox="1"/>
          <p:nvPr/>
        </p:nvSpPr>
        <p:spPr>
          <a:xfrm>
            <a:off x="765048" y="1752600"/>
            <a:ext cx="7848600" cy="369332"/>
          </a:xfrm>
          <a:prstGeom prst="rect">
            <a:avLst/>
          </a:prstGeom>
          <a:noFill/>
        </p:spPr>
        <p:txBody>
          <a:bodyPr wrap="square" rtlCol="0">
            <a:spAutoFit/>
          </a:bodyPr>
          <a:lstStyle/>
          <a:p>
            <a:pPr marL="285750" indent="-285750">
              <a:buFont typeface="Arial" panose="020B0604020202020204" pitchFamily="34" charset="0"/>
              <a:buChar char="•"/>
            </a:pPr>
            <a:r>
              <a:rPr lang="en-US" dirty="0"/>
              <a:t>Describes how users (actors) interact with the system and its functionalities.</a:t>
            </a:r>
            <a:endParaRPr lang="en-IN" dirty="0"/>
          </a:p>
        </p:txBody>
      </p:sp>
    </p:spTree>
    <p:extLst>
      <p:ext uri="{BB962C8B-B14F-4D97-AF65-F5344CB8AC3E}">
        <p14:creationId xmlns:p14="http://schemas.microsoft.com/office/powerpoint/2010/main" val="525272569"/>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DF1B-1EE5-F2B4-65F4-80095DC8146E}"/>
              </a:ext>
            </a:extLst>
          </p:cNvPr>
          <p:cNvSpPr>
            <a:spLocks noGrp="1"/>
          </p:cNvSpPr>
          <p:nvPr>
            <p:ph type="title"/>
          </p:nvPr>
        </p:nvSpPr>
        <p:spPr/>
        <p:txBody>
          <a:bodyPr/>
          <a:lstStyle/>
          <a:p>
            <a:r>
              <a:rPr lang="en-US" b="1" dirty="0"/>
              <a:t>Sequence Diagram</a:t>
            </a:r>
            <a:endParaRPr lang="en-IN" dirty="0"/>
          </a:p>
        </p:txBody>
      </p:sp>
      <p:pic>
        <p:nvPicPr>
          <p:cNvPr id="4" name="Content Placeholder 3">
            <a:extLst>
              <a:ext uri="{FF2B5EF4-FFF2-40B4-BE49-F238E27FC236}">
                <a16:creationId xmlns:a16="http://schemas.microsoft.com/office/drawing/2014/main" id="{DBC38C54-A8A8-AF7B-7A69-FED8CEBE0233}"/>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667000" y="2362200"/>
            <a:ext cx="4388391"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628B8603-5553-8E97-B106-D83E6E51D217}"/>
              </a:ext>
            </a:extLst>
          </p:cNvPr>
          <p:cNvSpPr txBox="1"/>
          <p:nvPr/>
        </p:nvSpPr>
        <p:spPr>
          <a:xfrm>
            <a:off x="1295400" y="1600200"/>
            <a:ext cx="6248400" cy="369332"/>
          </a:xfrm>
          <a:prstGeom prst="rect">
            <a:avLst/>
          </a:prstGeom>
          <a:noFill/>
        </p:spPr>
        <p:txBody>
          <a:bodyPr wrap="square">
            <a:spAutoFit/>
          </a:bodyPr>
          <a:lstStyle/>
          <a:p>
            <a:pPr marL="285750" indent="-285750">
              <a:buFont typeface="Arial" panose="020B0604020202020204" pitchFamily="34" charset="0"/>
              <a:buChar char="•"/>
            </a:pPr>
            <a:r>
              <a:rPr lang="en-IN" dirty="0"/>
              <a:t>Illustrates the order of interactions between objects over time.</a:t>
            </a:r>
          </a:p>
        </p:txBody>
      </p:sp>
    </p:spTree>
    <p:extLst>
      <p:ext uri="{BB962C8B-B14F-4D97-AF65-F5344CB8AC3E}">
        <p14:creationId xmlns:p14="http://schemas.microsoft.com/office/powerpoint/2010/main" val="453731327"/>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CC00-1CAC-3D56-6CF3-13FB24A0D309}"/>
              </a:ext>
            </a:extLst>
          </p:cNvPr>
          <p:cNvSpPr>
            <a:spLocks noGrp="1"/>
          </p:cNvSpPr>
          <p:nvPr>
            <p:ph type="title"/>
          </p:nvPr>
        </p:nvSpPr>
        <p:spPr>
          <a:xfrm>
            <a:off x="612648" y="457200"/>
            <a:ext cx="8153400" cy="990600"/>
          </a:xfrm>
        </p:spPr>
        <p:txBody>
          <a:bodyPr>
            <a:normAutofit fontScale="90000"/>
          </a:bodyPr>
          <a:lstStyle/>
          <a:p>
            <a:r>
              <a:rPr lang="en-US" b="1" dirty="0"/>
              <a:t>Activity Diagram</a:t>
            </a:r>
            <a:br>
              <a:rPr lang="en-IN" dirty="0"/>
            </a:br>
            <a:endParaRPr lang="en-IN" dirty="0"/>
          </a:p>
        </p:txBody>
      </p:sp>
      <p:pic>
        <p:nvPicPr>
          <p:cNvPr id="4" name="Content Placeholder 3">
            <a:extLst>
              <a:ext uri="{FF2B5EF4-FFF2-40B4-BE49-F238E27FC236}">
                <a16:creationId xmlns:a16="http://schemas.microsoft.com/office/drawing/2014/main" id="{0C6D8A89-67A9-DF4C-DD29-AD950A09E756}"/>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90800" y="2362200"/>
            <a:ext cx="4846233"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BDFB421C-BADD-E335-6E76-F564CBF8E825}"/>
              </a:ext>
            </a:extLst>
          </p:cNvPr>
          <p:cNvSpPr txBox="1"/>
          <p:nvPr/>
        </p:nvSpPr>
        <p:spPr>
          <a:xfrm>
            <a:off x="590524" y="1627239"/>
            <a:ext cx="7486676" cy="369332"/>
          </a:xfrm>
          <a:prstGeom prst="rect">
            <a:avLst/>
          </a:prstGeom>
          <a:noFill/>
        </p:spPr>
        <p:txBody>
          <a:bodyPr wrap="square">
            <a:spAutoFit/>
          </a:bodyPr>
          <a:lstStyle/>
          <a:p>
            <a:pPr marL="285750" indent="-285750">
              <a:buFont typeface="Arial" panose="020B0604020202020204" pitchFamily="34" charset="0"/>
              <a:buChar char="•"/>
            </a:pPr>
            <a:r>
              <a:rPr lang="en-IN" dirty="0"/>
              <a:t> Represents the workflow or step-by-step process of activities in a system.</a:t>
            </a:r>
          </a:p>
        </p:txBody>
      </p:sp>
    </p:spTree>
    <p:extLst>
      <p:ext uri="{BB962C8B-B14F-4D97-AF65-F5344CB8AC3E}">
        <p14:creationId xmlns:p14="http://schemas.microsoft.com/office/powerpoint/2010/main" val="3461842150"/>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C8EDA-A6C3-2B08-5FFB-F312DFEC6E86}"/>
              </a:ext>
            </a:extLst>
          </p:cNvPr>
          <p:cNvSpPr>
            <a:spLocks noGrp="1"/>
          </p:cNvSpPr>
          <p:nvPr>
            <p:ph type="title"/>
          </p:nvPr>
        </p:nvSpPr>
        <p:spPr/>
        <p:txBody>
          <a:bodyPr/>
          <a:lstStyle/>
          <a:p>
            <a:r>
              <a:rPr lang="en-US" b="1" dirty="0"/>
              <a:t>Component Diagram</a:t>
            </a:r>
            <a:endParaRPr lang="en-IN" dirty="0"/>
          </a:p>
        </p:txBody>
      </p:sp>
      <p:pic>
        <p:nvPicPr>
          <p:cNvPr id="4" name="Content Placeholder 3">
            <a:extLst>
              <a:ext uri="{FF2B5EF4-FFF2-40B4-BE49-F238E27FC236}">
                <a16:creationId xmlns:a16="http://schemas.microsoft.com/office/drawing/2014/main" id="{5E70039D-43B5-9CCD-CAEA-9DFA47F92B2D}"/>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33910" y="2286000"/>
            <a:ext cx="7932138" cy="4495800"/>
          </a:xfrm>
          <a:prstGeom prst="rect">
            <a:avLst/>
          </a:prstGeom>
          <a:noFill/>
          <a:ln>
            <a:noFill/>
          </a:ln>
        </p:spPr>
      </p:pic>
      <p:sp>
        <p:nvSpPr>
          <p:cNvPr id="6" name="TextBox 5">
            <a:extLst>
              <a:ext uri="{FF2B5EF4-FFF2-40B4-BE49-F238E27FC236}">
                <a16:creationId xmlns:a16="http://schemas.microsoft.com/office/drawing/2014/main" id="{D0DB4688-3AB0-0BF2-D606-AD3654638780}"/>
              </a:ext>
            </a:extLst>
          </p:cNvPr>
          <p:cNvSpPr txBox="1"/>
          <p:nvPr/>
        </p:nvSpPr>
        <p:spPr>
          <a:xfrm>
            <a:off x="983262" y="1524000"/>
            <a:ext cx="7932138" cy="646331"/>
          </a:xfrm>
          <a:prstGeom prst="rect">
            <a:avLst/>
          </a:prstGeom>
          <a:noFill/>
        </p:spPr>
        <p:txBody>
          <a:bodyPr wrap="square">
            <a:spAutoFit/>
          </a:bodyPr>
          <a:lstStyle/>
          <a:p>
            <a:pPr marL="285750" indent="-285750">
              <a:buFont typeface="Arial" panose="020B0604020202020204" pitchFamily="34" charset="0"/>
              <a:buChar char="•"/>
            </a:pPr>
            <a:r>
              <a:rPr lang="en-IN"/>
              <a:t>Shows how different software components are organized and interact with each other</a:t>
            </a:r>
          </a:p>
        </p:txBody>
      </p:sp>
    </p:spTree>
    <p:extLst>
      <p:ext uri="{BB962C8B-B14F-4D97-AF65-F5344CB8AC3E}">
        <p14:creationId xmlns:p14="http://schemas.microsoft.com/office/powerpoint/2010/main" val="1791626013"/>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62C3-FE37-CD70-C504-456A412D902D}"/>
              </a:ext>
            </a:extLst>
          </p:cNvPr>
          <p:cNvSpPr>
            <a:spLocks noGrp="1"/>
          </p:cNvSpPr>
          <p:nvPr>
            <p:ph type="title"/>
          </p:nvPr>
        </p:nvSpPr>
        <p:spPr/>
        <p:txBody>
          <a:bodyPr/>
          <a:lstStyle/>
          <a:p>
            <a:r>
              <a:rPr lang="en-US" b="1" dirty="0"/>
              <a:t>Deployment Diagram</a:t>
            </a:r>
            <a:endParaRPr lang="en-IN" dirty="0"/>
          </a:p>
        </p:txBody>
      </p:sp>
      <p:pic>
        <p:nvPicPr>
          <p:cNvPr id="4" name="Content Placeholder 3">
            <a:extLst>
              <a:ext uri="{FF2B5EF4-FFF2-40B4-BE49-F238E27FC236}">
                <a16:creationId xmlns:a16="http://schemas.microsoft.com/office/drawing/2014/main" id="{09978B6D-1555-6F1F-187F-7B8FB5D84CC5}"/>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05274" y="3300163"/>
            <a:ext cx="8153400" cy="3329237"/>
          </a:xfrm>
          <a:prstGeom prst="rect">
            <a:avLst/>
          </a:prstGeom>
          <a:noFill/>
          <a:ln>
            <a:noFill/>
          </a:ln>
        </p:spPr>
      </p:pic>
      <p:sp>
        <p:nvSpPr>
          <p:cNvPr id="6" name="TextBox 5">
            <a:extLst>
              <a:ext uri="{FF2B5EF4-FFF2-40B4-BE49-F238E27FC236}">
                <a16:creationId xmlns:a16="http://schemas.microsoft.com/office/drawing/2014/main" id="{CBF99793-8248-AE06-DC49-E1E537158794}"/>
              </a:ext>
            </a:extLst>
          </p:cNvPr>
          <p:cNvSpPr txBox="1"/>
          <p:nvPr/>
        </p:nvSpPr>
        <p:spPr>
          <a:xfrm>
            <a:off x="990600" y="1953722"/>
            <a:ext cx="7162800" cy="646331"/>
          </a:xfrm>
          <a:prstGeom prst="rect">
            <a:avLst/>
          </a:prstGeom>
          <a:noFill/>
        </p:spPr>
        <p:txBody>
          <a:bodyPr wrap="square">
            <a:spAutoFit/>
          </a:bodyPr>
          <a:lstStyle/>
          <a:p>
            <a:pPr marL="285750" indent="-285750">
              <a:buFont typeface="Arial" panose="020B0604020202020204" pitchFamily="34" charset="0"/>
              <a:buChar char="•"/>
            </a:pPr>
            <a:r>
              <a:rPr lang="en-IN" dirty="0"/>
              <a:t>Displays the physical deployment of software on hardware (servers, devices, etc.).</a:t>
            </a:r>
          </a:p>
        </p:txBody>
      </p:sp>
    </p:spTree>
    <p:extLst>
      <p:ext uri="{BB962C8B-B14F-4D97-AF65-F5344CB8AC3E}">
        <p14:creationId xmlns:p14="http://schemas.microsoft.com/office/powerpoint/2010/main" val="2322139590"/>
      </p:ext>
    </p:extLst>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60B9E-3701-AD79-8D60-CB6D2D6BDA64}"/>
              </a:ext>
            </a:extLst>
          </p:cNvPr>
          <p:cNvSpPr>
            <a:spLocks noGrp="1"/>
          </p:cNvSpPr>
          <p:nvPr>
            <p:ph type="title"/>
          </p:nvPr>
        </p:nvSpPr>
        <p:spPr/>
        <p:txBody>
          <a:bodyPr/>
          <a:lstStyle/>
          <a:p>
            <a:r>
              <a:rPr lang="en-US" b="1" dirty="0"/>
              <a:t>Collaboration Diagram</a:t>
            </a:r>
            <a:endParaRPr lang="en-IN" dirty="0"/>
          </a:p>
        </p:txBody>
      </p:sp>
      <p:pic>
        <p:nvPicPr>
          <p:cNvPr id="4" name="Content Placeholder 3">
            <a:extLst>
              <a:ext uri="{FF2B5EF4-FFF2-40B4-BE49-F238E27FC236}">
                <a16:creationId xmlns:a16="http://schemas.microsoft.com/office/drawing/2014/main" id="{A24DF91B-10C9-C3DD-F32F-5265F5073C43}"/>
              </a:ext>
            </a:extLst>
          </p:cNvPr>
          <p:cNvPicPr>
            <a:picLocks noGrp="1" noChangeAspect="1"/>
          </p:cNvPicPr>
          <p:nvPr>
            <p:ph sz="quarter" idx="1"/>
          </p:nvPr>
        </p:nvPicPr>
        <p:blipFill>
          <a:blip r:embed="rId2"/>
          <a:stretch>
            <a:fillRect/>
          </a:stretch>
        </p:blipFill>
        <p:spPr>
          <a:xfrm>
            <a:off x="612775" y="2638271"/>
            <a:ext cx="8153400" cy="2419657"/>
          </a:xfrm>
          <a:prstGeom prst="rect">
            <a:avLst/>
          </a:prstGeom>
        </p:spPr>
      </p:pic>
      <p:sp>
        <p:nvSpPr>
          <p:cNvPr id="6" name="TextBox 5">
            <a:extLst>
              <a:ext uri="{FF2B5EF4-FFF2-40B4-BE49-F238E27FC236}">
                <a16:creationId xmlns:a16="http://schemas.microsoft.com/office/drawing/2014/main" id="{F7BB0D0B-BB9B-282F-A1CF-CCF6556EA733}"/>
              </a:ext>
            </a:extLst>
          </p:cNvPr>
          <p:cNvSpPr txBox="1"/>
          <p:nvPr/>
        </p:nvSpPr>
        <p:spPr>
          <a:xfrm>
            <a:off x="914400" y="1752600"/>
            <a:ext cx="7391400" cy="923330"/>
          </a:xfrm>
          <a:prstGeom prst="rect">
            <a:avLst/>
          </a:prstGeom>
          <a:noFill/>
        </p:spPr>
        <p:txBody>
          <a:bodyPr wrap="square">
            <a:spAutoFit/>
          </a:bodyPr>
          <a:lstStyle/>
          <a:p>
            <a:pPr marL="285750" indent="-285750">
              <a:buFont typeface="Arial" panose="020B0604020202020204" pitchFamily="34" charset="0"/>
              <a:buChar char="•"/>
            </a:pPr>
            <a:r>
              <a:rPr lang="en-IN" dirty="0"/>
              <a:t>Shows how objects interact with each other through messages to complete a task, focusing more on relationships between objects rather than the sequence of events</a:t>
            </a:r>
          </a:p>
        </p:txBody>
      </p:sp>
    </p:spTree>
    <p:extLst>
      <p:ext uri="{BB962C8B-B14F-4D97-AF65-F5344CB8AC3E}">
        <p14:creationId xmlns:p14="http://schemas.microsoft.com/office/powerpoint/2010/main" val="3801769913"/>
      </p:ext>
    </p:extLst>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F4E9A-A96C-F769-77B4-65D6ED33ADDB}"/>
              </a:ext>
            </a:extLst>
          </p:cNvPr>
          <p:cNvSpPr>
            <a:spLocks noGrp="1"/>
          </p:cNvSpPr>
          <p:nvPr>
            <p:ph type="title"/>
          </p:nvPr>
        </p:nvSpPr>
        <p:spPr/>
        <p:txBody>
          <a:bodyPr/>
          <a:lstStyle/>
          <a:p>
            <a:r>
              <a:rPr lang="en-IN" dirty="0"/>
              <a:t>Output</a:t>
            </a:r>
          </a:p>
        </p:txBody>
      </p:sp>
      <p:pic>
        <p:nvPicPr>
          <p:cNvPr id="5" name="Content Placeholder 4">
            <a:extLst>
              <a:ext uri="{FF2B5EF4-FFF2-40B4-BE49-F238E27FC236}">
                <a16:creationId xmlns:a16="http://schemas.microsoft.com/office/drawing/2014/main" id="{8083CE41-1BE0-1EB7-D9FB-4FCC4DEA8DF3}"/>
              </a:ext>
            </a:extLst>
          </p:cNvPr>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2550572" y="1600200"/>
            <a:ext cx="4190999" cy="2438400"/>
          </a:xfrm>
          <a:prstGeom prst="rect">
            <a:avLst/>
          </a:prstGeom>
        </p:spPr>
      </p:pic>
      <p:pic>
        <p:nvPicPr>
          <p:cNvPr id="3" name="Content Placeholder 4">
            <a:extLst>
              <a:ext uri="{FF2B5EF4-FFF2-40B4-BE49-F238E27FC236}">
                <a16:creationId xmlns:a16="http://schemas.microsoft.com/office/drawing/2014/main" id="{8E8E216C-EA34-DE18-7C47-90AA623FEC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4370770"/>
            <a:ext cx="4114800" cy="2315910"/>
          </a:xfrm>
          <a:prstGeom prst="rect">
            <a:avLst/>
          </a:prstGeom>
        </p:spPr>
      </p:pic>
      <p:pic>
        <p:nvPicPr>
          <p:cNvPr id="6" name="Picture 5">
            <a:extLst>
              <a:ext uri="{FF2B5EF4-FFF2-40B4-BE49-F238E27FC236}">
                <a16:creationId xmlns:a16="http://schemas.microsoft.com/office/drawing/2014/main" id="{C7154EF1-D332-6BA2-D13E-F3A966B40D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05153" y="4370770"/>
            <a:ext cx="4010247" cy="2315910"/>
          </a:xfrm>
          <a:prstGeom prst="rect">
            <a:avLst/>
          </a:prstGeom>
        </p:spPr>
      </p:pic>
      <p:sp>
        <p:nvSpPr>
          <p:cNvPr id="7" name="TextBox 6">
            <a:extLst>
              <a:ext uri="{FF2B5EF4-FFF2-40B4-BE49-F238E27FC236}">
                <a16:creationId xmlns:a16="http://schemas.microsoft.com/office/drawing/2014/main" id="{F4B807CC-8C26-5C10-3F4E-21E488DF868E}"/>
              </a:ext>
            </a:extLst>
          </p:cNvPr>
          <p:cNvSpPr txBox="1"/>
          <p:nvPr/>
        </p:nvSpPr>
        <p:spPr>
          <a:xfrm>
            <a:off x="304800" y="1752600"/>
            <a:ext cx="2245772" cy="954107"/>
          </a:xfrm>
          <a:prstGeom prst="rect">
            <a:avLst/>
          </a:prstGeom>
          <a:noFill/>
        </p:spPr>
        <p:txBody>
          <a:bodyPr wrap="square" rtlCol="0">
            <a:spAutoFit/>
          </a:bodyPr>
          <a:lstStyle/>
          <a:p>
            <a:r>
              <a:rPr lang="en-IN" sz="2800" b="1" dirty="0"/>
              <a:t>Interface Layout</a:t>
            </a:r>
          </a:p>
        </p:txBody>
      </p:sp>
    </p:spTree>
    <p:extLst>
      <p:ext uri="{BB962C8B-B14F-4D97-AF65-F5344CB8AC3E}">
        <p14:creationId xmlns:p14="http://schemas.microsoft.com/office/powerpoint/2010/main" val="2998041784"/>
      </p:ext>
    </p:extLst>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931CA-D712-9D6D-F164-3245B9E90F19}"/>
              </a:ext>
            </a:extLst>
          </p:cNvPr>
          <p:cNvSpPr>
            <a:spLocks noGrp="1"/>
          </p:cNvSpPr>
          <p:nvPr>
            <p:ph type="title"/>
          </p:nvPr>
        </p:nvSpPr>
        <p:spPr/>
        <p:txBody>
          <a:bodyPr/>
          <a:lstStyle/>
          <a:p>
            <a:r>
              <a:rPr lang="en-IN" dirty="0"/>
              <a:t>Output</a:t>
            </a:r>
          </a:p>
        </p:txBody>
      </p:sp>
      <p:pic>
        <p:nvPicPr>
          <p:cNvPr id="5" name="Content Placeholder 4">
            <a:extLst>
              <a:ext uri="{FF2B5EF4-FFF2-40B4-BE49-F238E27FC236}">
                <a16:creationId xmlns:a16="http://schemas.microsoft.com/office/drawing/2014/main" id="{9ADDBDE2-63CB-E087-B9BE-F9FF5846A970}"/>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p:blipFill>
        <p:spPr>
          <a:xfrm>
            <a:off x="189993" y="2590800"/>
            <a:ext cx="4270246" cy="3200400"/>
          </a:xfrm>
          <a:prstGeom prst="rect">
            <a:avLst/>
          </a:prstGeom>
        </p:spPr>
      </p:pic>
      <p:pic>
        <p:nvPicPr>
          <p:cNvPr id="3" name="Content Placeholder 4">
            <a:extLst>
              <a:ext uri="{FF2B5EF4-FFF2-40B4-BE49-F238E27FC236}">
                <a16:creationId xmlns:a16="http://schemas.microsoft.com/office/drawing/2014/main" id="{BED61871-B8A9-A3A0-8DD2-9B8C97A1C0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48200" y="2590800"/>
            <a:ext cx="4305807" cy="3200400"/>
          </a:xfrm>
          <a:prstGeom prst="rect">
            <a:avLst/>
          </a:prstGeom>
        </p:spPr>
      </p:pic>
      <p:sp>
        <p:nvSpPr>
          <p:cNvPr id="4" name="TextBox 3">
            <a:extLst>
              <a:ext uri="{FF2B5EF4-FFF2-40B4-BE49-F238E27FC236}">
                <a16:creationId xmlns:a16="http://schemas.microsoft.com/office/drawing/2014/main" id="{12FD3246-04C2-55FE-2669-09261DA11F05}"/>
              </a:ext>
            </a:extLst>
          </p:cNvPr>
          <p:cNvSpPr txBox="1"/>
          <p:nvPr/>
        </p:nvSpPr>
        <p:spPr>
          <a:xfrm>
            <a:off x="382016" y="1752600"/>
            <a:ext cx="3886200" cy="523220"/>
          </a:xfrm>
          <a:prstGeom prst="rect">
            <a:avLst/>
          </a:prstGeom>
          <a:noFill/>
        </p:spPr>
        <p:txBody>
          <a:bodyPr wrap="square" rtlCol="0">
            <a:spAutoFit/>
          </a:bodyPr>
          <a:lstStyle/>
          <a:p>
            <a:r>
              <a:rPr lang="en-IN" sz="2800" b="1" dirty="0"/>
              <a:t>Detection GUI Window</a:t>
            </a:r>
          </a:p>
        </p:txBody>
      </p:sp>
    </p:spTree>
    <p:extLst>
      <p:ext uri="{BB962C8B-B14F-4D97-AF65-F5344CB8AC3E}">
        <p14:creationId xmlns:p14="http://schemas.microsoft.com/office/powerpoint/2010/main" val="260908034"/>
      </p:ext>
    </p:extLst>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91C59-85D4-A6DB-8A40-0F3A128A7E33}"/>
              </a:ext>
            </a:extLst>
          </p:cNvPr>
          <p:cNvSpPr>
            <a:spLocks noGrp="1"/>
          </p:cNvSpPr>
          <p:nvPr>
            <p:ph type="title"/>
          </p:nvPr>
        </p:nvSpPr>
        <p:spPr/>
        <p:txBody>
          <a:bodyPr/>
          <a:lstStyle/>
          <a:p>
            <a:r>
              <a:rPr lang="en-IN" dirty="0"/>
              <a:t>Output </a:t>
            </a:r>
          </a:p>
        </p:txBody>
      </p:sp>
      <p:pic>
        <p:nvPicPr>
          <p:cNvPr id="6" name="Picture 5">
            <a:extLst>
              <a:ext uri="{FF2B5EF4-FFF2-40B4-BE49-F238E27FC236}">
                <a16:creationId xmlns:a16="http://schemas.microsoft.com/office/drawing/2014/main" id="{B4792B91-C23F-B1E7-B719-4DBA3433D9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0"/>
            <a:ext cx="9144000" cy="5448451"/>
          </a:xfrm>
          <a:prstGeom prst="rect">
            <a:avLst/>
          </a:prstGeom>
        </p:spPr>
      </p:pic>
      <p:sp>
        <p:nvSpPr>
          <p:cNvPr id="7" name="TextBox 6">
            <a:extLst>
              <a:ext uri="{FF2B5EF4-FFF2-40B4-BE49-F238E27FC236}">
                <a16:creationId xmlns:a16="http://schemas.microsoft.com/office/drawing/2014/main" id="{9C7FA383-478A-58B1-8790-82DED2220191}"/>
              </a:ext>
            </a:extLst>
          </p:cNvPr>
          <p:cNvSpPr txBox="1"/>
          <p:nvPr/>
        </p:nvSpPr>
        <p:spPr>
          <a:xfrm>
            <a:off x="609600" y="1752600"/>
            <a:ext cx="8153400" cy="523220"/>
          </a:xfrm>
          <a:prstGeom prst="rect">
            <a:avLst/>
          </a:prstGeom>
          <a:noFill/>
        </p:spPr>
        <p:txBody>
          <a:bodyPr wrap="square" rtlCol="0">
            <a:spAutoFit/>
          </a:bodyPr>
          <a:lstStyle/>
          <a:p>
            <a:r>
              <a:rPr lang="en-IN" sz="2800" dirty="0">
                <a:latin typeface="+mj-lt"/>
              </a:rPr>
              <a:t>Eye blink and Closure detection for Drowsiness </a:t>
            </a:r>
          </a:p>
        </p:txBody>
      </p:sp>
    </p:spTree>
    <p:extLst>
      <p:ext uri="{BB962C8B-B14F-4D97-AF65-F5344CB8AC3E}">
        <p14:creationId xmlns:p14="http://schemas.microsoft.com/office/powerpoint/2010/main" val="995291664"/>
      </p:ext>
    </p:extLst>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D117F-B829-C156-F102-6A2FA60B36A2}"/>
              </a:ext>
            </a:extLst>
          </p:cNvPr>
          <p:cNvSpPr>
            <a:spLocks noGrp="1"/>
          </p:cNvSpPr>
          <p:nvPr>
            <p:ph type="title"/>
          </p:nvPr>
        </p:nvSpPr>
        <p:spPr/>
        <p:txBody>
          <a:bodyPr/>
          <a:lstStyle/>
          <a:p>
            <a:r>
              <a:rPr lang="en-IN" dirty="0"/>
              <a:t>Output </a:t>
            </a:r>
          </a:p>
        </p:txBody>
      </p:sp>
      <p:pic>
        <p:nvPicPr>
          <p:cNvPr id="4" name="Picture 3">
            <a:extLst>
              <a:ext uri="{FF2B5EF4-FFF2-40B4-BE49-F238E27FC236}">
                <a16:creationId xmlns:a16="http://schemas.microsoft.com/office/drawing/2014/main" id="{608CE951-D1FE-B56D-30F7-76945DE764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0"/>
            <a:ext cx="9144000" cy="5435751"/>
          </a:xfrm>
          <a:prstGeom prst="rect">
            <a:avLst/>
          </a:prstGeom>
        </p:spPr>
      </p:pic>
      <p:sp>
        <p:nvSpPr>
          <p:cNvPr id="7" name="TextBox 6">
            <a:extLst>
              <a:ext uri="{FF2B5EF4-FFF2-40B4-BE49-F238E27FC236}">
                <a16:creationId xmlns:a16="http://schemas.microsoft.com/office/drawing/2014/main" id="{BE816C84-7F0E-6102-4296-EB9EBAC8E56C}"/>
              </a:ext>
            </a:extLst>
          </p:cNvPr>
          <p:cNvSpPr txBox="1"/>
          <p:nvPr/>
        </p:nvSpPr>
        <p:spPr>
          <a:xfrm>
            <a:off x="495300" y="1752600"/>
            <a:ext cx="8153400" cy="523220"/>
          </a:xfrm>
          <a:prstGeom prst="rect">
            <a:avLst/>
          </a:prstGeom>
          <a:noFill/>
        </p:spPr>
        <p:txBody>
          <a:bodyPr wrap="square" rtlCol="0">
            <a:spAutoFit/>
          </a:bodyPr>
          <a:lstStyle/>
          <a:p>
            <a:r>
              <a:rPr lang="en-IN" sz="2800" dirty="0">
                <a:latin typeface="+mj-lt"/>
              </a:rPr>
              <a:t>Mouth State Analysis for Drowsiness Detection</a:t>
            </a:r>
          </a:p>
        </p:txBody>
      </p:sp>
    </p:spTree>
    <p:extLst>
      <p:ext uri="{BB962C8B-B14F-4D97-AF65-F5344CB8AC3E}">
        <p14:creationId xmlns:p14="http://schemas.microsoft.com/office/powerpoint/2010/main" val="836414408"/>
      </p:ext>
    </p:extLst>
  </p:cSld>
  <p:clrMapOvr>
    <a:masterClrMapping/>
  </p:clrMapOvr>
  <p:transition>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1C6-7BA0-1020-7E23-AC9A5190D0F5}"/>
              </a:ext>
            </a:extLst>
          </p:cNvPr>
          <p:cNvSpPr>
            <a:spLocks noGrp="1"/>
          </p:cNvSpPr>
          <p:nvPr>
            <p:ph type="title"/>
          </p:nvPr>
        </p:nvSpPr>
        <p:spPr/>
        <p:txBody>
          <a:bodyPr/>
          <a:lstStyle/>
          <a:p>
            <a:r>
              <a:rPr lang="en-IN" dirty="0"/>
              <a:t>Future Enhancements</a:t>
            </a:r>
          </a:p>
        </p:txBody>
      </p:sp>
      <p:sp>
        <p:nvSpPr>
          <p:cNvPr id="3" name="Content Placeholder 2">
            <a:extLst>
              <a:ext uri="{FF2B5EF4-FFF2-40B4-BE49-F238E27FC236}">
                <a16:creationId xmlns:a16="http://schemas.microsoft.com/office/drawing/2014/main" id="{95D30DCE-9DF5-D132-351F-B6A7A41A8C1E}"/>
              </a:ext>
            </a:extLst>
          </p:cNvPr>
          <p:cNvSpPr>
            <a:spLocks noGrp="1"/>
          </p:cNvSpPr>
          <p:nvPr>
            <p:ph sz="quarter" idx="1"/>
          </p:nvPr>
        </p:nvSpPr>
        <p:spPr>
          <a:xfrm>
            <a:off x="612648" y="1600200"/>
            <a:ext cx="8153400" cy="4724400"/>
          </a:xfrm>
        </p:spPr>
        <p:txBody>
          <a:bodyPr>
            <a:normAutofit lnSpcReduction="10000"/>
          </a:bodyPr>
          <a:lstStyle/>
          <a:p>
            <a:pPr marL="0" indent="0">
              <a:buNone/>
            </a:pPr>
            <a:r>
              <a:rPr lang="en-US" sz="2400" dirty="0"/>
              <a:t>The Real-Time Driver Drowsiness Detection System can be further improved by integrating advanced technologies and additional features to enhance accuracy, usability, and safety. Some of the possible future enhancements are as follows</a:t>
            </a:r>
            <a:r>
              <a:rPr lang="en-US" dirty="0"/>
              <a:t>:</a:t>
            </a:r>
          </a:p>
          <a:p>
            <a:r>
              <a:rPr lang="en-US" sz="2700" b="1" dirty="0"/>
              <a:t>Integration with Smart Vehicles</a:t>
            </a:r>
          </a:p>
          <a:p>
            <a:pPr marL="320040" lvl="1" indent="0">
              <a:buNone/>
            </a:pPr>
            <a:r>
              <a:rPr lang="en-US" sz="2400" dirty="0"/>
              <a:t>The system can be integrated directly into modern vehicles and smart transportation systems to continuously monitor driver behavior and automatically take preventive actions.</a:t>
            </a:r>
          </a:p>
          <a:p>
            <a:r>
              <a:rPr lang="en-US" sz="2700" b="1" dirty="0"/>
              <a:t>Automatic Vehicle Control</a:t>
            </a:r>
          </a:p>
          <a:p>
            <a:pPr marL="320040" lvl="1" indent="0">
              <a:buNone/>
            </a:pPr>
            <a:r>
              <a:rPr lang="en-US" sz="2400" dirty="0"/>
              <a:t>In critical situations, the system can be connected with the vehicle control system to reduce vehicle speed or safely stop the vehicle if the driver does not respond to alerts.</a:t>
            </a:r>
          </a:p>
          <a:p>
            <a:pPr lvl="1"/>
            <a:endParaRPr lang="en-US" sz="2100" dirty="0"/>
          </a:p>
          <a:p>
            <a:endParaRPr lang="en-US" sz="2400" dirty="0"/>
          </a:p>
          <a:p>
            <a:endParaRPr lang="en-IN" dirty="0"/>
          </a:p>
        </p:txBody>
      </p:sp>
    </p:spTree>
    <p:extLst>
      <p:ext uri="{BB962C8B-B14F-4D97-AF65-F5344CB8AC3E}">
        <p14:creationId xmlns:p14="http://schemas.microsoft.com/office/powerpoint/2010/main" val="668733639"/>
      </p:ext>
    </p:extLst>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0EF5-6CB6-E957-79EE-E35AE544A1CE}"/>
              </a:ext>
            </a:extLst>
          </p:cNvPr>
          <p:cNvSpPr>
            <a:spLocks noGrp="1"/>
          </p:cNvSpPr>
          <p:nvPr>
            <p:ph type="title"/>
          </p:nvPr>
        </p:nvSpPr>
        <p:spPr/>
        <p:txBody>
          <a:bodyPr/>
          <a:lstStyle/>
          <a:p>
            <a:r>
              <a:rPr lang="en-IN" dirty="0"/>
              <a:t>Future Enhancements</a:t>
            </a:r>
          </a:p>
        </p:txBody>
      </p:sp>
      <p:sp>
        <p:nvSpPr>
          <p:cNvPr id="3" name="Content Placeholder 2">
            <a:extLst>
              <a:ext uri="{FF2B5EF4-FFF2-40B4-BE49-F238E27FC236}">
                <a16:creationId xmlns:a16="http://schemas.microsoft.com/office/drawing/2014/main" id="{66C86ABA-7C71-0055-929E-569FFB967914}"/>
              </a:ext>
            </a:extLst>
          </p:cNvPr>
          <p:cNvSpPr>
            <a:spLocks noGrp="1"/>
          </p:cNvSpPr>
          <p:nvPr>
            <p:ph sz="quarter" idx="1"/>
          </p:nvPr>
        </p:nvSpPr>
        <p:spPr>
          <a:xfrm>
            <a:off x="612648" y="1676400"/>
            <a:ext cx="8153400" cy="4648200"/>
          </a:xfrm>
        </p:spPr>
        <p:txBody>
          <a:bodyPr>
            <a:normAutofit fontScale="92500" lnSpcReduction="10000"/>
          </a:bodyPr>
          <a:lstStyle/>
          <a:p>
            <a:r>
              <a:rPr lang="en-US" b="1" dirty="0"/>
              <a:t>Mobile Application Integration</a:t>
            </a:r>
          </a:p>
          <a:p>
            <a:pPr marL="320040" lvl="1" indent="0">
              <a:buNone/>
            </a:pPr>
            <a:r>
              <a:rPr lang="en-US" dirty="0"/>
              <a:t>A mobile application can be developed to monitor driver alertness, store driving data, and send notifications or alerts to the driver’s smartphone.</a:t>
            </a:r>
          </a:p>
          <a:p>
            <a:r>
              <a:rPr lang="en-US" b="1" dirty="0"/>
              <a:t>Advanced Deep Learning Models</a:t>
            </a:r>
          </a:p>
          <a:p>
            <a:pPr marL="320040" lvl="1" indent="0">
              <a:buNone/>
            </a:pPr>
            <a:r>
              <a:rPr lang="en-US" dirty="0"/>
              <a:t>More advanced deep learning architectures such as </a:t>
            </a:r>
            <a:r>
              <a:rPr lang="en-US" dirty="0" err="1"/>
              <a:t>ResNet</a:t>
            </a:r>
            <a:r>
              <a:rPr lang="en-US" dirty="0"/>
              <a:t>, EfficientNet, or Vision Transformers can be used to improve the accuracy and robustness of drowsiness detection.</a:t>
            </a:r>
          </a:p>
          <a:p>
            <a:r>
              <a:rPr lang="en-US" b="1" dirty="0"/>
              <a:t>Multiple Driver Monitoring</a:t>
            </a:r>
          </a:p>
          <a:p>
            <a:pPr marL="320040" lvl="1" indent="0">
              <a:buNone/>
            </a:pPr>
            <a:r>
              <a:rPr lang="en-US" dirty="0"/>
              <a:t>The system can be enhanced to support multiple cameras to monitor the driver from different angles, improving detection accuracy in different driving conditions.</a:t>
            </a:r>
          </a:p>
          <a:p>
            <a:endParaRPr lang="en-IN" dirty="0"/>
          </a:p>
        </p:txBody>
      </p:sp>
    </p:spTree>
    <p:extLst>
      <p:ext uri="{BB962C8B-B14F-4D97-AF65-F5344CB8AC3E}">
        <p14:creationId xmlns:p14="http://schemas.microsoft.com/office/powerpoint/2010/main" val="2669774067"/>
      </p:ext>
    </p:extLst>
  </p:cSld>
  <p:clrMapOvr>
    <a:masterClrMapping/>
  </p:clrMapOvr>
  <p:transition>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D8A3F-955F-3F5E-2A4F-C23C3E77C849}"/>
              </a:ext>
            </a:extLst>
          </p:cNvPr>
          <p:cNvSpPr>
            <a:spLocks noGrp="1"/>
          </p:cNvSpPr>
          <p:nvPr>
            <p:ph type="title"/>
          </p:nvPr>
        </p:nvSpPr>
        <p:spPr/>
        <p:txBody>
          <a:bodyPr/>
          <a:lstStyle/>
          <a:p>
            <a:r>
              <a:rPr lang="en-IN" dirty="0"/>
              <a:t>Future Enhancements</a:t>
            </a:r>
          </a:p>
        </p:txBody>
      </p:sp>
      <p:sp>
        <p:nvSpPr>
          <p:cNvPr id="3" name="Content Placeholder 2">
            <a:extLst>
              <a:ext uri="{FF2B5EF4-FFF2-40B4-BE49-F238E27FC236}">
                <a16:creationId xmlns:a16="http://schemas.microsoft.com/office/drawing/2014/main" id="{04C1CAEE-BF8A-CDD0-30F7-DA2F7CC92497}"/>
              </a:ext>
            </a:extLst>
          </p:cNvPr>
          <p:cNvSpPr>
            <a:spLocks noGrp="1"/>
          </p:cNvSpPr>
          <p:nvPr>
            <p:ph sz="quarter" idx="1"/>
          </p:nvPr>
        </p:nvSpPr>
        <p:spPr>
          <a:xfrm>
            <a:off x="612648" y="1752600"/>
            <a:ext cx="8153400" cy="4572000"/>
          </a:xfrm>
        </p:spPr>
        <p:txBody>
          <a:bodyPr>
            <a:normAutofit fontScale="92500"/>
          </a:bodyPr>
          <a:lstStyle/>
          <a:p>
            <a:r>
              <a:rPr lang="en-US" b="1" dirty="0"/>
              <a:t>Cloud-Based Data Storage and Analysis</a:t>
            </a:r>
          </a:p>
          <a:p>
            <a:pPr marL="320040" lvl="1" indent="0">
              <a:buNone/>
            </a:pPr>
            <a:r>
              <a:rPr lang="en-US" dirty="0"/>
              <a:t>Driver alertness data can be stored in the cloud to analyze driving patterns, generate reports, and improve long-term safety monitoring.</a:t>
            </a:r>
          </a:p>
          <a:p>
            <a:r>
              <a:rPr lang="en-US" b="1" dirty="0"/>
              <a:t>Integration with GPS and Emergency Alerts</a:t>
            </a:r>
          </a:p>
          <a:p>
            <a:pPr marL="320040" lvl="1" indent="0">
              <a:buNone/>
            </a:pPr>
            <a:r>
              <a:rPr lang="en-US" dirty="0"/>
              <a:t>The system can be integrated with GPS tracking to send emergency alerts or location information to family members or authorities if the driver becomes unresponsive.</a:t>
            </a:r>
          </a:p>
          <a:p>
            <a:pPr marL="320040" lvl="1" indent="0">
              <a:buNone/>
            </a:pPr>
            <a:r>
              <a:rPr lang="en-US" dirty="0"/>
              <a:t>These enhancements will make the system more intelligent, reliable, and suitable for real-world applications in modern vehicles and transportation systems.</a:t>
            </a:r>
            <a:endParaRPr lang="en-IN" dirty="0"/>
          </a:p>
        </p:txBody>
      </p:sp>
    </p:spTree>
    <p:extLst>
      <p:ext uri="{BB962C8B-B14F-4D97-AF65-F5344CB8AC3E}">
        <p14:creationId xmlns:p14="http://schemas.microsoft.com/office/powerpoint/2010/main" val="4001458531"/>
      </p:ext>
    </p:extLst>
  </p:cSld>
  <p:clrMapOvr>
    <a:masterClrMapping/>
  </p:clrMapOvr>
  <p:transition>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63A84-09D8-B70A-642C-3EC528D20DE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8631F96E-B993-BDCD-ED1C-1E1C8FE1ACBD}"/>
              </a:ext>
            </a:extLst>
          </p:cNvPr>
          <p:cNvSpPr>
            <a:spLocks noGrp="1"/>
          </p:cNvSpPr>
          <p:nvPr>
            <p:ph sz="quarter" idx="1"/>
          </p:nvPr>
        </p:nvSpPr>
        <p:spPr>
          <a:xfrm>
            <a:off x="612648" y="1600200"/>
            <a:ext cx="8153400" cy="4191000"/>
          </a:xfrm>
        </p:spPr>
        <p:txBody>
          <a:bodyPr>
            <a:noAutofit/>
          </a:bodyPr>
          <a:lstStyle/>
          <a:p>
            <a:r>
              <a:rPr lang="en-US" sz="2000" dirty="0"/>
              <a:t> Developed a real-time driver drowsiness detection system to improve road safety  </a:t>
            </a:r>
          </a:p>
          <a:p>
            <a:endParaRPr lang="en-US" sz="2000" dirty="0"/>
          </a:p>
          <a:p>
            <a:r>
              <a:rPr lang="en-US" sz="2000" dirty="0"/>
              <a:t> Uses computer vision and deep learning (CNN) to analyze eye closure,   blinking, and yawning  </a:t>
            </a:r>
          </a:p>
          <a:p>
            <a:endParaRPr lang="en-US" sz="2000" dirty="0"/>
          </a:p>
          <a:p>
            <a:r>
              <a:rPr lang="en-US" sz="2000" dirty="0"/>
              <a:t> Detects driver fatigue and provides instant alert through alarm system  </a:t>
            </a:r>
          </a:p>
          <a:p>
            <a:endParaRPr lang="en-US" sz="2000" dirty="0"/>
          </a:p>
          <a:p>
            <a:r>
              <a:rPr lang="en-US" sz="2000" dirty="0"/>
              <a:t> Works in real-time using camera-based monitoring  </a:t>
            </a:r>
          </a:p>
          <a:p>
            <a:endParaRPr lang="en-US" sz="2000" dirty="0"/>
          </a:p>
          <a:p>
            <a:r>
              <a:rPr lang="en-US" sz="2000" dirty="0"/>
              <a:t> Cost-effective, non-intrusive, and easy to implement  </a:t>
            </a:r>
          </a:p>
          <a:p>
            <a:endParaRPr lang="en-US" sz="2000" dirty="0"/>
          </a:p>
          <a:p>
            <a:r>
              <a:rPr lang="en-US" sz="2000" dirty="0"/>
              <a:t> Helps reduce accidents caused by driver drowsiness</a:t>
            </a:r>
            <a:endParaRPr lang="en-IN" sz="2000" dirty="0"/>
          </a:p>
        </p:txBody>
      </p:sp>
    </p:spTree>
    <p:extLst>
      <p:ext uri="{BB962C8B-B14F-4D97-AF65-F5344CB8AC3E}">
        <p14:creationId xmlns:p14="http://schemas.microsoft.com/office/powerpoint/2010/main" val="4063891899"/>
      </p:ext>
    </p:extLst>
  </p:cSld>
  <p:clrMapOvr>
    <a:masterClrMapping/>
  </p:clrMapOvr>
  <p:transition>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jpg"/>
          <p:cNvPicPr>
            <a:picLocks noChangeAspect="1"/>
          </p:cNvPicPr>
          <p:nvPr/>
        </p:nvPicPr>
        <p:blipFill>
          <a:blip r:embed="rId2" cstate="print"/>
          <a:stretch>
            <a:fillRect/>
          </a:stretch>
        </p:blipFill>
        <p:spPr>
          <a:xfrm>
            <a:off x="1"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999</TotalTime>
  <Words>2164</Words>
  <Application>Microsoft Office PowerPoint</Application>
  <PresentationFormat>On-screen Show (4:3)</PresentationFormat>
  <Paragraphs>187</Paragraphs>
  <Slides>34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Times New Roman</vt:lpstr>
      <vt:lpstr>Tw Cen MT</vt:lpstr>
      <vt:lpstr>Tw Cen MT (Headings)</vt:lpstr>
      <vt:lpstr>Wingdings</vt:lpstr>
      <vt:lpstr>Wingdings 2</vt:lpstr>
      <vt:lpstr>Median</vt:lpstr>
      <vt:lpstr>A Real Time Driver Drowsiness Detection and Alert System</vt:lpstr>
      <vt:lpstr>OUTLINE</vt:lpstr>
      <vt:lpstr>ABSTRACT</vt:lpstr>
      <vt:lpstr>INTRODUCTION</vt:lpstr>
      <vt:lpstr>PROBLEM STATEMENT</vt:lpstr>
      <vt:lpstr>EXISTING SYSTEM</vt:lpstr>
      <vt:lpstr>DISADVANTAGES</vt:lpstr>
      <vt:lpstr> PROPOSED SYSTEM</vt:lpstr>
      <vt:lpstr>ADVANTAGES</vt:lpstr>
      <vt:lpstr>SYSTEM REQUIREMENTS</vt:lpstr>
      <vt:lpstr>SYSTEM REQUIREMENTS</vt:lpstr>
      <vt:lpstr>SYSTEM ARCHITECTURE</vt:lpstr>
      <vt:lpstr>SYSTEM ARCHITECTURE</vt:lpstr>
      <vt:lpstr>Modules</vt:lpstr>
      <vt:lpstr>Modules</vt:lpstr>
      <vt:lpstr>Modules</vt:lpstr>
      <vt:lpstr>Modules</vt:lpstr>
      <vt:lpstr>  UML DIAGRAMS  </vt:lpstr>
      <vt:lpstr>Class Diagram</vt:lpstr>
      <vt:lpstr>Use Case Diagram</vt:lpstr>
      <vt:lpstr>Sequence Diagram</vt:lpstr>
      <vt:lpstr>Activity Diagram </vt:lpstr>
      <vt:lpstr>Component Diagram</vt:lpstr>
      <vt:lpstr>Deployment Diagram</vt:lpstr>
      <vt:lpstr>Collaboration Diagram</vt:lpstr>
      <vt:lpstr>Output</vt:lpstr>
      <vt:lpstr>Output</vt:lpstr>
      <vt:lpstr>Output </vt:lpstr>
      <vt:lpstr>Output </vt:lpstr>
      <vt:lpstr>Future Enhancements</vt:lpstr>
      <vt:lpstr>Future Enhancements</vt:lpstr>
      <vt:lpstr>Future Enhancements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mounikajayaveerapalli91@gmail.com</cp:lastModifiedBy>
  <cp:revision>145</cp:revision>
  <dcterms:created xsi:type="dcterms:W3CDTF">2006-08-16T00:00:00Z</dcterms:created>
  <dcterms:modified xsi:type="dcterms:W3CDTF">2026-04-06T05:21:45Z</dcterms:modified>
</cp:coreProperties>
</file>